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c6c458db094754" /><Relationship Type="http://schemas.openxmlformats.org/officeDocument/2006/relationships/extended-properties" Target="/docProps/app.xml" Id="Rb813e86ce1ce410c" /><Relationship Type="http://schemas.openxmlformats.org/officeDocument/2006/relationships/officeDocument" Target="/ppt/presentation.xml" Id="R3d8ad9a7f4f34b9b" /></Relationships>
</file>

<file path=ppt/presentation.xml><?xml version="1.0" encoding="utf-8"?>
<p:presentation xmlns:p="http://schemas.openxmlformats.org/presentationml/2006/main">
  <p:sldMasterIdLst>
    <p:sldMasterId xmlns:r="http://schemas.openxmlformats.org/officeDocument/2006/relationships" id="2147483648" r:id="Rc7b26bdd3a1b4b04"/>
  </p:sldMasterIdLst>
  <p:notesMasterIdLst>
    <p:notesMasterId xmlns:r="http://schemas.openxmlformats.org/officeDocument/2006/relationships" r:id="R4fc75a54169a4a3a"/>
  </p:notesMasterIdLst>
  <p:sldIdLst>
    <p:sldId xmlns:r="http://schemas.openxmlformats.org/officeDocument/2006/relationships" id="256" r:id="Re989a776b2f54c37"/>
    <p:sldId xmlns:r="http://schemas.openxmlformats.org/officeDocument/2006/relationships" id="257" r:id="Reee5081c20c24668"/>
    <p:sldId xmlns:r="http://schemas.openxmlformats.org/officeDocument/2006/relationships" id="258" r:id="R65d86ea215994554"/>
    <p:sldId xmlns:r="http://schemas.openxmlformats.org/officeDocument/2006/relationships" id="259" r:id="R9844eab4a53c4280"/>
    <p:sldId xmlns:r="http://schemas.openxmlformats.org/officeDocument/2006/relationships" id="260" r:id="R8dc66eead86f46d6"/>
    <p:sldId xmlns:r="http://schemas.openxmlformats.org/officeDocument/2006/relationships" id="261" r:id="Rb8dabf837bb34424"/>
    <p:sldId xmlns:r="http://schemas.openxmlformats.org/officeDocument/2006/relationships" id="262" r:id="R932b7f15ff67475c"/>
    <p:sldId xmlns:r="http://schemas.openxmlformats.org/officeDocument/2006/relationships" id="263" r:id="Ra4ba198e62a3469c"/>
    <p:sldId xmlns:r="http://schemas.openxmlformats.org/officeDocument/2006/relationships" id="264" r:id="R67b0d5741b1a4cfb"/>
    <p:sldId xmlns:r="http://schemas.openxmlformats.org/officeDocument/2006/relationships" id="265" r:id="R1611d3ee22f842f8"/>
    <p:sldId xmlns:r="http://schemas.openxmlformats.org/officeDocument/2006/relationships" id="266" r:id="Raf899b6ce6c34a0b"/>
    <p:sldId xmlns:r="http://schemas.openxmlformats.org/officeDocument/2006/relationships" id="267" r:id="R97cae21487e445f7"/>
    <p:sldId xmlns:r="http://schemas.openxmlformats.org/officeDocument/2006/relationships" id="268" r:id="Rd2646f8a650f4ffd"/>
    <p:sldId xmlns:r="http://schemas.openxmlformats.org/officeDocument/2006/relationships" id="269" r:id="R53632bef06a6445f"/>
    <p:sldId xmlns:r="http://schemas.openxmlformats.org/officeDocument/2006/relationships" id="270" r:id="Rc81aacd828b94009"/>
    <p:sldId xmlns:r="http://schemas.openxmlformats.org/officeDocument/2006/relationships" id="271" r:id="R58a73b473fef49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84484d592249e2" /><Relationship Type="http://schemas.openxmlformats.org/officeDocument/2006/relationships/slideMaster" Target="/ppt/slideMasters/slideMaster1.xml" Id="Rc7b26bdd3a1b4b04" /><Relationship Type="http://schemas.openxmlformats.org/officeDocument/2006/relationships/notesMaster" Target="/ppt/notesMasters/notesMaster1.xml" Id="R4fc75a54169a4a3a" /><Relationship Type="http://schemas.openxmlformats.org/officeDocument/2006/relationships/presProps" Target="/ppt/presProps.xml" Id="R119b245d2ca342cf" /><Relationship Type="http://schemas.openxmlformats.org/officeDocument/2006/relationships/tableStyles" Target="/ppt/tableStyles.xml" Id="Re34a6525cb754741" /><Relationship Type="http://schemas.openxmlformats.org/officeDocument/2006/relationships/slide" Target="/ppt/slides/slide1.xml" Id="Re989a776b2f54c37" /><Relationship Type="http://schemas.openxmlformats.org/officeDocument/2006/relationships/slide" Target="/ppt/slides/slide2.xml" Id="Reee5081c20c24668" /><Relationship Type="http://schemas.openxmlformats.org/officeDocument/2006/relationships/slide" Target="/ppt/slides/slide3.xml" Id="R65d86ea215994554" /><Relationship Type="http://schemas.openxmlformats.org/officeDocument/2006/relationships/slide" Target="/ppt/slides/slide4.xml" Id="R9844eab4a53c4280" /><Relationship Type="http://schemas.openxmlformats.org/officeDocument/2006/relationships/slide" Target="/ppt/slides/slide5.xml" Id="R8dc66eead86f46d6" /><Relationship Type="http://schemas.openxmlformats.org/officeDocument/2006/relationships/slide" Target="/ppt/slides/slide6.xml" Id="Rb8dabf837bb34424" /><Relationship Type="http://schemas.openxmlformats.org/officeDocument/2006/relationships/slide" Target="/ppt/slides/slide7.xml" Id="R932b7f15ff67475c" /><Relationship Type="http://schemas.openxmlformats.org/officeDocument/2006/relationships/slide" Target="/ppt/slides/slide8.xml" Id="Ra4ba198e62a3469c" /><Relationship Type="http://schemas.openxmlformats.org/officeDocument/2006/relationships/slide" Target="/ppt/slides/slide9.xml" Id="R67b0d5741b1a4cfb" /><Relationship Type="http://schemas.openxmlformats.org/officeDocument/2006/relationships/slide" Target="/ppt/slides/slide10.xml" Id="R1611d3ee22f842f8" /><Relationship Type="http://schemas.openxmlformats.org/officeDocument/2006/relationships/slide" Target="/ppt/slides/slide11.xml" Id="Raf899b6ce6c34a0b" /><Relationship Type="http://schemas.openxmlformats.org/officeDocument/2006/relationships/slide" Target="/ppt/slides/slide12.xml" Id="R97cae21487e445f7" /><Relationship Type="http://schemas.openxmlformats.org/officeDocument/2006/relationships/slide" Target="/ppt/slides/slide13.xml" Id="Rd2646f8a650f4ffd" /><Relationship Type="http://schemas.openxmlformats.org/officeDocument/2006/relationships/slide" Target="/ppt/slides/slide14.xml" Id="R53632bef06a6445f" /><Relationship Type="http://schemas.openxmlformats.org/officeDocument/2006/relationships/slide" Target="/ppt/slides/slide15.xml" Id="Rc81aacd828b94009" /><Relationship Type="http://schemas.openxmlformats.org/officeDocument/2006/relationships/slide" Target="/ppt/slides/slide16.xml" Id="R58a73b473fef49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cb413e36c445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80ac9684d7485e" /><Relationship Type="http://schemas.openxmlformats.org/officeDocument/2006/relationships/notesMaster" Target="/ppt/notesMasters/notesMaster1.xml" Id="Rd9ba3fdb327e43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1767007ab746a3" /><Relationship Type="http://schemas.openxmlformats.org/officeDocument/2006/relationships/notesMaster" Target="/ppt/notesMasters/notesMaster1.xml" Id="R6ba8961e82be42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3120f259a04b1e" /><Relationship Type="http://schemas.openxmlformats.org/officeDocument/2006/relationships/notesMaster" Target="/ppt/notesMasters/notesMaster1.xml" Id="Raaefa2633fbc40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5ab56431074677" /><Relationship Type="http://schemas.openxmlformats.org/officeDocument/2006/relationships/notesMaster" Target="/ppt/notesMasters/notesMaster1.xml" Id="Re8972e02c88940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697a6bd46e4a7d" /><Relationship Type="http://schemas.openxmlformats.org/officeDocument/2006/relationships/notesMaster" Target="/ppt/notesMasters/notesMaster1.xml" Id="Rd154be6f52be4f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866598c6dc4933" /><Relationship Type="http://schemas.openxmlformats.org/officeDocument/2006/relationships/notesMaster" Target="/ppt/notesMasters/notesMaster1.xml" Id="R6148b9638a354b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7421de0f794194" /><Relationship Type="http://schemas.openxmlformats.org/officeDocument/2006/relationships/notesMaster" Target="/ppt/notesMasters/notesMaster1.xml" Id="Rd9f51d2dfd6743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31677b530247db" /><Relationship Type="http://schemas.openxmlformats.org/officeDocument/2006/relationships/notesMaster" Target="/ppt/notesMasters/notesMaster1.xml" Id="Rf811b5b952334c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1cbcd2457d48f5" /><Relationship Type="http://schemas.openxmlformats.org/officeDocument/2006/relationships/notesMaster" Target="/ppt/notesMasters/notesMaster1.xml" Id="R37d8092d459943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d05d64c88b4a7d" /><Relationship Type="http://schemas.openxmlformats.org/officeDocument/2006/relationships/notesMaster" Target="/ppt/notesMasters/notesMaster1.xml" Id="Re7eaf94ef32740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cd72ded6a44982" /><Relationship Type="http://schemas.openxmlformats.org/officeDocument/2006/relationships/notesMaster" Target="/ppt/notesMasters/notesMaster1.xml" Id="Re624a8a1773d40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39ba77fe6647e8" /><Relationship Type="http://schemas.openxmlformats.org/officeDocument/2006/relationships/notesMaster" Target="/ppt/notesMasters/notesMaster1.xml" Id="R193af8685d4645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baa4969b014ca2" /><Relationship Type="http://schemas.openxmlformats.org/officeDocument/2006/relationships/notesMaster" Target="/ppt/notesMasters/notesMaster1.xml" Id="Rbf773d9166244a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d036fc250a4943" /><Relationship Type="http://schemas.openxmlformats.org/officeDocument/2006/relationships/notesMaster" Target="/ppt/notesMasters/notesMaster1.xml" Id="R55c5ae28d3b54c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da57bbd64f4bf1" /><Relationship Type="http://schemas.openxmlformats.org/officeDocument/2006/relationships/notesMaster" Target="/ppt/notesMasters/notesMaster1.xml" Id="R293b8bc068b441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bcf80d2fab49ad" /><Relationship Type="http://schemas.openxmlformats.org/officeDocument/2006/relationships/notesMaster" Target="/ppt/notesMasters/notesMaster1.xml" Id="Ra12c8c3fac8f47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at the finish. The trip ran from June 24 to July 10, 2026: 17 elapsed days, 14 riding days, three rest or non-riding days, and seven countries. The audited riding distance is 3,049.438 km. The point of the talk is not that the original plan worked. It is that nearly every important part of the trip arrived after the plan broke.</a:t>
            </a:r>
          </a:p>
          <a:p xmlns:a="http://schemas.openxmlformats.org/drawingml/2006/main">
            <a:r>
              <a:t/>
            </a:r>
          </a:p>
          <a:p xmlns:a="http://schemas.openxmlformats.org/drawingml/2006/main">
            <a:r>
              <a:t>[Sources]</a:t>
            </a:r>
          </a:p>
          <a:p xmlns:a="http://schemas.openxmlformats.org/drawingml/2006/main">
            <a:r>
              <a:t>- /Users/kian/Developer/vélo/europe-trip-presentation/sources/trip-chronology.txt</a:t>
            </a:r>
          </a:p>
          <a:p xmlns:a="http://schemas.openxmlformats.org/drawingml/2006/main">
            <a:r>
              <a:t>- /Users/kian/Developer/vélo/europe-trip-presentation/assets/manifest.txt</a:t>
            </a:r>
          </a:p>
          <a:p xmlns:a="http://schemas.openxmlformats.org/drawingml/2006/main">
            <a:r>
              <a:t>- https://www.youtube.com/watch?v=NWt_1sTojmA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numbers before anyone has to wonder which total is real. The original route file was 4,173 km. The public summary rounded the ride to about 3,100 km and the titles rounded it to 3,000 km. A later audit of Strava activities, FIT and GPX files, and Photos timestamps established 3,049.438 km as the preferred riding total, with a plausible range of 3,040 to 3,061 km. The S-Bahn on June 24 and train segments on June 29 and June 30 are excluded.</a:t>
            </a:r>
          </a:p>
          <a:p xmlns:a="http://schemas.openxmlformats.org/drawingml/2006/main">
            <a:r>
              <a:t/>
            </a:r>
          </a:p>
          <a:p xmlns:a="http://schemas.openxmlformats.org/drawingml/2006/main">
            <a:r>
              <a:t>[Sources]</a:t>
            </a:r>
          </a:p>
          <a:p xmlns:a="http://schemas.openxmlformats.org/drawingml/2006/main">
            <a:r>
              <a:t>- /Users/kian/Developer/vélo/strava-europe-trip-audit-2026.md</a:t>
            </a:r>
          </a:p>
          <a:p xmlns:a="http://schemas.openxmlformats.org/drawingml/2006/main">
            <a:r>
              <a:t>- /Users/kian/Developer/vélo/europe-trip-presentation/assets/frames/route-map.jpg</a:t>
            </a:r>
          </a:p>
          <a:p xmlns:a="http://schemas.openxmlformats.org/drawingml/2006/main">
            <a:r>
              <a:t>- https://www.youtube.com/watch?v=NWt_1sTojmA&amp;t=12s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across the chart chronologically. There are three zero-distance days: June 28, July 5, and July 7. July 1 is reconstructed because the activity itself is missing. The final two riding days total 608.26 km. July 9 is the longest day at 337.84 km.</a:t>
            </a:r>
          </a:p>
          <a:p xmlns:a="http://schemas.openxmlformats.org/drawingml/2006/main">
            <a:r>
              <a:t/>
            </a:r>
          </a:p>
          <a:p xmlns:a="http://schemas.openxmlformats.org/drawingml/2006/main">
            <a:r>
              <a:t>[Sources]</a:t>
            </a:r>
          </a:p>
          <a:p xmlns:a="http://schemas.openxmlformats.org/drawingml/2006/main">
            <a:r>
              <a:t>- /Users/kian/Developer/vélo/strava-europe-trip-audit-2026.md</a:t>
            </a:r>
          </a:p>
          <a:p xmlns:a="http://schemas.openxmlformats.org/drawingml/2006/main">
            <a:r>
              <a:t>- /Users/kian/Developer/vélo/europe-trip-presentation/sources/trip-chronology.txt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trip effectively starts one day before the official riding log. I left Canada at 3 a.m., said an emotional goodbye, and flew with the bicycle in a cardboard box. In Frankfurt it was 33°C. The bicycle survived the flight, but after assembly the headset loosened and rotated during a nine-kilometre test ride. I tightened it without a torque wrench and delayed the departure to the next morning. The sealant added that day later made the puncture unrepairable.</a:t>
            </a:r>
          </a:p>
          <a:p xmlns:a="http://schemas.openxmlformats.org/drawingml/2006/main">
            <a:r>
              <a:t/>
            </a:r>
          </a:p>
          <a:p xmlns:a="http://schemas.openxmlformats.org/drawingml/2006/main">
            <a:r>
              <a:t>[Sources]</a:t>
            </a:r>
          </a:p>
          <a:p xmlns:a="http://schemas.openxmlformats.org/drawingml/2006/main">
            <a:r>
              <a:t>- /Users/kian/Developer/vélo/europe-trip-presentation/transcripts/day-01.txt</a:t>
            </a:r>
          </a:p>
          <a:p xmlns:a="http://schemas.openxmlformats.org/drawingml/2006/main">
            <a:r>
              <a:t>- https://www.youtube.com/watch?v=nRVeTv7W0VE&amp;t=44s</a:t>
            </a:r>
          </a:p>
          <a:p xmlns:a="http://schemas.openxmlformats.org/drawingml/2006/main">
            <a:r>
              <a:t>- /Users/kian/Library/Mobile Documents/com~apple~CloudDocs/obsidian/notes/2026-06-22.md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one nearly ended the trip. I left at 6:30 instead of 5:00 after losing the Polar charger. The headset was still loose. Then the pedal loosened until it destroyed the crank-arm threads. I pedalled with one foot to a station, took a train to Mainz, tried four bicycle shops, and considered returning to the house. The fourth shop had the rare part. The vlog has a twelve-hour hole because I recorded nothing between roughly 8 a.m. and 8:25 p.m. I still reached Karlsruhe and celebrated with bananas, milk, and chocolate milk.</a:t>
            </a:r>
          </a:p>
          <a:p xmlns:a="http://schemas.openxmlformats.org/drawingml/2006/main">
            <a:r>
              <a:t/>
            </a:r>
          </a:p>
          <a:p xmlns:a="http://schemas.openxmlformats.org/drawingml/2006/main">
            <a:r>
              <a:t>[Sources]</a:t>
            </a:r>
          </a:p>
          <a:p xmlns:a="http://schemas.openxmlformats.org/drawingml/2006/main">
            <a:r>
              <a:t>- /Users/kian/Developer/vélo/europe-trip-presentation/transcripts/day-01.txt</a:t>
            </a:r>
          </a:p>
          <a:p xmlns:a="http://schemas.openxmlformats.org/drawingml/2006/main">
            <a:r>
              <a:t>- /Users/kian/Developer/vélo/europe-trip-presentation/sources/trip-chronology.txt</a:t>
            </a:r>
          </a:p>
          <a:p xmlns:a="http://schemas.openxmlformats.org/drawingml/2006/main">
            <a:r>
              <a:t>- https://www.youtube.com/watch?v=nRVeTv7W0VE&amp;t=303s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three days compress the trip into heat and border crossings. June 25 reached roughly 42°C and ended in Alsace after I realized the Polar charger was gone. June 26 crossed the France-Germany-Switzerland tri-border and included a near-loss of the passport. June 27 went past Rhine Falls and through Germany, Switzerland, Austria, and Liechtenstein in one day. Near Danis, a thunderstorm soaked and disabled the main phone.</a:t>
            </a:r>
          </a:p>
          <a:p xmlns:a="http://schemas.openxmlformats.org/drawingml/2006/main">
            <a:r>
              <a:t/>
            </a:r>
          </a:p>
          <a:p xmlns:a="http://schemas.openxmlformats.org/drawingml/2006/main">
            <a:r>
              <a:t>[Sources]</a:t>
            </a:r>
          </a:p>
          <a:p xmlns:a="http://schemas.openxmlformats.org/drawingml/2006/main">
            <a:r>
              <a:t>- /Users/kian/Developer/vélo/europe-trip-presentation/transcripts/day-02.txt</a:t>
            </a:r>
          </a:p>
          <a:p xmlns:a="http://schemas.openxmlformats.org/drawingml/2006/main">
            <a:r>
              <a:t>- /Users/kian/Developer/vélo/europe-trip-presentation/transcripts/day-03.txt</a:t>
            </a:r>
          </a:p>
          <a:p xmlns:a="http://schemas.openxmlformats.org/drawingml/2006/main">
            <a:r>
              <a:t>- /Users/kian/Developer/vélo/europe-trip-presentation/transcripts/day-04.txt</a:t>
            </a:r>
          </a:p>
          <a:p xmlns:a="http://schemas.openxmlformats.org/drawingml/2006/main">
            <a:r>
              <a:t>- /Users/kian/Developer/vélo/europe-trip-presentation/sources/trip-chronology.txt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June 28 was a forced rest day: it was Sunday, repair shops were closed, the phone was dead, and I remained in Danis. Jérôme and Marika helped make the day bearable. The next morning I crossed Oberalp Pass at roughly 2,000 metres and then climbed Furka Pass at 2,436 metres. The Furka climb was about 13 kilometres and 890 metres of elevation. In the vlog I made a deliberate emotional reset: only looking forward. A train from Brig to Sion is excluded from the riding total.</a:t>
            </a:r>
          </a:p>
          <a:p xmlns:a="http://schemas.openxmlformats.org/drawingml/2006/main">
            <a:r>
              <a:t/>
            </a:r>
          </a:p>
          <a:p xmlns:a="http://schemas.openxmlformats.org/drawingml/2006/main">
            <a:r>
              <a:t>[Sources]</a:t>
            </a:r>
          </a:p>
          <a:p xmlns:a="http://schemas.openxmlformats.org/drawingml/2006/main">
            <a:r>
              <a:t>- /Users/kian/Developer/vélo/europe-trip-presentation/transcripts/day-05.txt</a:t>
            </a:r>
          </a:p>
          <a:p xmlns:a="http://schemas.openxmlformats.org/drawingml/2006/main">
            <a:r>
              <a:t>- /Users/kian/Developer/vélo/europe-trip-presentation/assets/frames/furka-pass.jpg</a:t>
            </a:r>
          </a:p>
          <a:p xmlns:a="http://schemas.openxmlformats.org/drawingml/2006/main">
            <a:r>
              <a:t>- https://www.youtube.com/watch?v=hHPp29eo9OI&amp;t=387s</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emotional low point. After Lake Geneva and Evian, two Airbnb reservations cancelled. The backup iPhone ran out of charge, the main phone screen was broken, and stores had closed. I spent about two hours circling Geneva, panicking and crying, before going to the station. Zahran approached, heard that I had nowhere to sleep, and invited me to travel with him and stay on his balcony. The next morning his family provided masala and eggs.</a:t>
            </a:r>
          </a:p>
          <a:p xmlns:a="http://schemas.openxmlformats.org/drawingml/2006/main">
            <a:r>
              <a:t/>
            </a:r>
          </a:p>
          <a:p xmlns:a="http://schemas.openxmlformats.org/drawingml/2006/main">
            <a:r>
              <a:t>[Sources]</a:t>
            </a:r>
          </a:p>
          <a:p xmlns:a="http://schemas.openxmlformats.org/drawingml/2006/main">
            <a:r>
              <a:t>- /Users/kian/Developer/vélo/europe-trip-presentation/transcripts/day-06.txt</a:t>
            </a:r>
          </a:p>
          <a:p xmlns:a="http://schemas.openxmlformats.org/drawingml/2006/main">
            <a:r>
              <a:t>- /Users/kian/Developer/vélo/europe-trip-presentation/transcripts/day-07.txt</a:t>
            </a:r>
          </a:p>
          <a:p xmlns:a="http://schemas.openxmlformats.org/drawingml/2006/main">
            <a:r>
              <a:t>- https://www.youtube.com/watch?v=8nglV62Vr2o&amp;t=111s</a:t>
            </a:r>
          </a:p>
          <a:p xmlns:a="http://schemas.openxmlformats.org/drawingml/2006/main">
            <a:r>
              <a:t>- /Users/kian/Developer/vélo/europe-trip-presentation/sources/trip-chronology.txt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July 1 a random repair kiosk inside a Carrefour replaced the iPhone 15 screen for 180 euros. Payment itself took hours because the credentials were on the broken phone, so my cousin in Germany transferred the money. With planning restored, I calculated that the original route would require 264 kilometres every remaining day, including major days in the Italian Alps. I rejected it and rerouted north through Lyon, Paris, Belgium, the Netherlands, and back down the Rhine. The July 1 distance is reconstructed because the Strava activity is missing.</a:t>
            </a:r>
          </a:p>
          <a:p xmlns:a="http://schemas.openxmlformats.org/drawingml/2006/main">
            <a:r>
              <a:t/>
            </a:r>
          </a:p>
          <a:p xmlns:a="http://schemas.openxmlformats.org/drawingml/2006/main">
            <a:r>
              <a:t>[Sources]</a:t>
            </a:r>
          </a:p>
          <a:p xmlns:a="http://schemas.openxmlformats.org/drawingml/2006/main">
            <a:r>
              <a:t>- /Users/kian/Developer/vélo/europe-trip-presentation/transcripts/day-07.txt</a:t>
            </a:r>
          </a:p>
          <a:p xmlns:a="http://schemas.openxmlformats.org/drawingml/2006/main">
            <a:r>
              <a:t>- /Users/kian/Developer/vélo/europe-trip-presentation/assets/frames/phone-fixed.jpg</a:t>
            </a:r>
          </a:p>
          <a:p xmlns:a="http://schemas.openxmlformats.org/drawingml/2006/main">
            <a:r>
              <a:t>- https://www.youtube.com/watch?v=8nglV62Vr2o&amp;t=521s</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puncture probably began the prior day. The sealant would not close it, and the front tyre fell toward roughly ten PSI. I was about twenty kilometres from a Giant shop. I dumped two litres of water, leaned back to take weight off the front wheel, avoided turns, and stopped every few kilometres to pump. Olivier and Anton replaced the tyre; the incorrect sealant prevented a patch. They charged only the 50-euro part and gave the labour and tools for free. I continued through Lyon and along the Saône.</a:t>
            </a:r>
          </a:p>
          <a:p xmlns:a="http://schemas.openxmlformats.org/drawingml/2006/main">
            <a:r>
              <a:t/>
            </a:r>
          </a:p>
          <a:p xmlns:a="http://schemas.openxmlformats.org/drawingml/2006/main">
            <a:r>
              <a:t>[Sources]</a:t>
            </a:r>
          </a:p>
          <a:p xmlns:a="http://schemas.openxmlformats.org/drawingml/2006/main">
            <a:r>
              <a:t>- /Users/kian/Developer/vélo/europe-trip-presentation/transcripts/day-08.txt</a:t>
            </a:r>
          </a:p>
          <a:p xmlns:a="http://schemas.openxmlformats.org/drawingml/2006/main">
            <a:r>
              <a:t>- /Users/kian/Developer/vélo/europe-trip-presentation/assets/frames/giant-bike-shop.jpg</a:t>
            </a:r>
          </a:p>
          <a:p xmlns:a="http://schemas.openxmlformats.org/drawingml/2006/main">
            <a:r>
              <a:t>- https://www.youtube.com/watch?v=Jw-WU-_shfY&amp;t=339s</a:t>
            </a:r>
          </a:p>
          <a:p xmlns:a="http://schemas.openxmlformats.org/drawingml/2006/main">
            <a:r>
              <a:t>- /Users/kian/Developer/vélo/europe-trip-presentation/assets/photos/day-08-lyon.jpg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deliberate closing push. July 3 covered 274.98 km from Fleurville to Nevers through a wasp sting, nosebleed, lost Croc elastic, headwind, and a high-speed road without a shoulder. July 4 covered 287.47 km to Paris after starting hungry, passing a nuclear plant and Fontainebleau, and negotiating Paris traffic. Apple Maps supplied the wrong address near the end. I reached my aunt's home around 11:30 p.m. Two days total: 562.45 km.</a:t>
            </a:r>
          </a:p>
          <a:p xmlns:a="http://schemas.openxmlformats.org/drawingml/2006/main">
            <a:r>
              <a:t/>
            </a:r>
          </a:p>
          <a:p xmlns:a="http://schemas.openxmlformats.org/drawingml/2006/main">
            <a:r>
              <a:t>[Sources]</a:t>
            </a:r>
          </a:p>
          <a:p xmlns:a="http://schemas.openxmlformats.org/drawingml/2006/main">
            <a:r>
              <a:t>- /Users/kian/Developer/vélo/europe-trip-presentation/transcripts/day-10.txt</a:t>
            </a:r>
          </a:p>
          <a:p xmlns:a="http://schemas.openxmlformats.org/drawingml/2006/main">
            <a:r>
              <a:t>- /Users/kian/Developer/vélo/europe-trip-presentation/transcripts/day-11.txt</a:t>
            </a:r>
          </a:p>
          <a:p xmlns:a="http://schemas.openxmlformats.org/drawingml/2006/main">
            <a:r>
              <a:t>- /Users/kian/Developer/vélo/europe-trip-presentation/sources/trip-chronology.txt</a:t>
            </a:r>
          </a:p>
          <a:p xmlns:a="http://schemas.openxmlformats.org/drawingml/2006/main">
            <a:r>
              <a:t>- /Users/kian/Developer/vélo/europe-trip-presentation/assets/photos/paris-aunt.jpg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July 5 was a rest day in Paris. On July 6 my aunt sent me out with eggs, and I rode 206.39 km north to Drocourt through war cemeteries, poppies, and the coal-mining landscape before staying with Jean-Luc. July 7 was another non-riding day, including a visit to Vimy by car. These pauses matter because the trip was no longer simply an attempt to complete a preloaded line. It now included specific people and places I wanted to reach.</a:t>
            </a:r>
          </a:p>
          <a:p xmlns:a="http://schemas.openxmlformats.org/drawingml/2006/main">
            <a:r>
              <a:t/>
            </a:r>
          </a:p>
          <a:p xmlns:a="http://schemas.openxmlformats.org/drawingml/2006/main">
            <a:r>
              <a:t>[Sources]</a:t>
            </a:r>
          </a:p>
          <a:p xmlns:a="http://schemas.openxmlformats.org/drawingml/2006/main">
            <a:r>
              <a:t>- /Users/kian/Developer/vélo/europe-trip-presentation/transcripts/day-09.txt</a:t>
            </a:r>
          </a:p>
          <a:p xmlns:a="http://schemas.openxmlformats.org/drawingml/2006/main">
            <a:r>
              <a:t>- /Users/kian/Developer/vélo/europe-trip-presentation/sources/trip-chronology.txt</a:t>
            </a:r>
          </a:p>
          <a:p xmlns:a="http://schemas.openxmlformats.org/drawingml/2006/main">
            <a:r>
              <a:t>- /Users/kian/Developer/vélo/europe-trip-presentation/assets/photos/paris-aunt.jpg</a:t>
            </a:r>
          </a:p>
          <a:p xmlns:a="http://schemas.openxmlformats.org/drawingml/2006/main">
            <a:r>
              <a:t>- /Users/kian/Developer/vélo/europe-trip-presentation/assets/photos/drocourt-jean-luc.jpg</a:t>
            </a:r>
          </a:p>
          <a:p xmlns:a="http://schemas.openxmlformats.org/drawingml/2006/main">
            <a:r>
              <a:t>- /Users/kian/Developer/vélo/europe-trip-presentation/assets/photos/vimy-group.jpg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Ride 12 went from Drocourt to Bruges. The day included Paris-Roubaix cobbles, Tournai, a punishing headwind, and the contrast of Ghent's bicycle infrastructure. After maintenance, the chain felt like pure butter. The audited 197.17 km includes a 16.06 km loop around Bruges. That evening, with roughly 600 km remaining, I chose to cover it in two days rather than three so I could see family sooner.</a:t>
            </a:r>
          </a:p>
          <a:p xmlns:a="http://schemas.openxmlformats.org/drawingml/2006/main">
            <a:r>
              <a:t/>
            </a:r>
          </a:p>
          <a:p xmlns:a="http://schemas.openxmlformats.org/drawingml/2006/main">
            <a:r>
              <a:t>[Sources]</a:t>
            </a:r>
          </a:p>
          <a:p xmlns:a="http://schemas.openxmlformats.org/drawingml/2006/main">
            <a:r>
              <a:t>- /Users/kian/Developer/vélo/europe-trip-presentation/transcripts/day-12.txt</a:t>
            </a:r>
          </a:p>
          <a:p xmlns:a="http://schemas.openxmlformats.org/drawingml/2006/main">
            <a:r>
              <a:t>- /Users/kian/Developer/vélo/europe-trip-presentation/assets/frames/paris-roubaix-cobbles.jpg</a:t>
            </a:r>
          </a:p>
          <a:p xmlns:a="http://schemas.openxmlformats.org/drawingml/2006/main">
            <a:r>
              <a:t>- https://www.youtube.com/watch?v=PTFawKQFJoo&amp;t=85s</a:t>
            </a:r>
          </a:p>
          <a:p xmlns:a="http://schemas.openxmlformats.org/drawingml/2006/main">
            <a:r>
              <a:t>- /Users/kian/Developer/vélo/europe-trip-presentation/assets/photos/bruges-canal.jpg</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Ride 13 began before 6 a.m. in Bruges and ended around 11:30 p.m. in Cologne. I stopped at a Canadian war cemetery, entered Antwerp through the Sint-Anna pedestrian and bicycle tunnel 31 metres below the river, crossed briefly through the Netherlands, and returned to Germany. The final dark kilometres were on paths, but I had to hold the phone forward as a flashlight while riding. The audited distance is 337.84 km, the longest day of the trip.</a:t>
            </a:r>
          </a:p>
          <a:p xmlns:a="http://schemas.openxmlformats.org/drawingml/2006/main">
            <a:r>
              <a:t/>
            </a:r>
          </a:p>
          <a:p xmlns:a="http://schemas.openxmlformats.org/drawingml/2006/main">
            <a:r>
              <a:t>[Sources]</a:t>
            </a:r>
          </a:p>
          <a:p xmlns:a="http://schemas.openxmlformats.org/drawingml/2006/main">
            <a:r>
              <a:t>- /Users/kian/Developer/vélo/europe-trip-presentation/transcripts/day-13.txt</a:t>
            </a:r>
          </a:p>
          <a:p xmlns:a="http://schemas.openxmlformats.org/drawingml/2006/main">
            <a:r>
              <a:t>- /Users/kian/Developer/vélo/europe-trip-presentation/assets/frames/antwerp-tunnel.jpg</a:t>
            </a:r>
          </a:p>
          <a:p xmlns:a="http://schemas.openxmlformats.org/drawingml/2006/main">
            <a:r>
              <a:t>- https://www.youtube.com/watch?v=jKRlZC1f514&amp;t=145s</a:t>
            </a:r>
          </a:p>
          <a:p xmlns:a="http://schemas.openxmlformats.org/drawingml/2006/main">
            <a:r>
              <a:t>- /Users/kian/Developer/vélo/europe-trip-presentation/assets/frames/german-sunset.jpg</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day began in Cologne with the cathedral, continued through Bonn and along the Rhine, and ended after 11 p.m. in Mittelbuchen. The legs felt dead after the prior day's record, but the route was familiar again. My family tracked the phone and waited outside in the driveway. The final day was 270.42 km. Together, the last two days total 608.26 km.</a:t>
            </a:r>
          </a:p>
          <a:p xmlns:a="http://schemas.openxmlformats.org/drawingml/2006/main">
            <a:r>
              <a:t/>
            </a:r>
          </a:p>
          <a:p xmlns:a="http://schemas.openxmlformats.org/drawingml/2006/main">
            <a:r>
              <a:t>[Sources]</a:t>
            </a:r>
          </a:p>
          <a:p xmlns:a="http://schemas.openxmlformats.org/drawingml/2006/main">
            <a:r>
              <a:t>- /Users/kian/Developer/vélo/europe-trip-presentation/transcripts/day-14.txt</a:t>
            </a:r>
          </a:p>
          <a:p xmlns:a="http://schemas.openxmlformats.org/drawingml/2006/main">
            <a:r>
              <a:t>- /Users/kian/Developer/vélo/europe-trip-presentation/assets/frames/cologne-cathedral.jpg</a:t>
            </a:r>
          </a:p>
          <a:p xmlns:a="http://schemas.openxmlformats.org/drawingml/2006/main">
            <a:r>
              <a:t>- /Users/kian/Developer/vélo/europe-trip-presentation/assets/frames/final-rhine.jpg</a:t>
            </a:r>
          </a:p>
          <a:p xmlns:a="http://schemas.openxmlformats.org/drawingml/2006/main">
            <a:r>
              <a:t>- /Users/kian/Developer/vélo/europe-trip-presentation/assets/photos/finish-night.jpg</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on the exact line from the July 10 daily note: I LOVE LIFE SO MUCH. Do not turn it into a generic lesson. Name the people and the concrete acts that kept the trip moving: Zahran offered the balcony; my cousin transferred the phone payment; Olivier and Anton repaired the bicycle; my aunt and Jean-Luc supplied food and rooms; family waited in the driveway. Keep the physical cost in the ending too. Seventeen days later I still recorded hand blisters, numb toes, and neck pain.</a:t>
            </a:r>
          </a:p>
          <a:p xmlns:a="http://schemas.openxmlformats.org/drawingml/2006/main">
            <a:r>
              <a:t/>
            </a:r>
          </a:p>
          <a:p xmlns:a="http://schemas.openxmlformats.org/drawingml/2006/main">
            <a:r>
              <a:t>[Sources]</a:t>
            </a:r>
          </a:p>
          <a:p xmlns:a="http://schemas.openxmlformats.org/drawingml/2006/main">
            <a:r>
              <a:t>- /Users/kian/Library/Mobile Documents/com~apple~CloudDocs/obsidian/notes/2026-07-10.md</a:t>
            </a:r>
          </a:p>
          <a:p xmlns:a="http://schemas.openxmlformats.org/drawingml/2006/main">
            <a:r>
              <a:t>- /Users/kian/Library/Mobile Documents/com~apple~CloudDocs/obsidian/notes/2026-07-11.md</a:t>
            </a:r>
          </a:p>
          <a:p xmlns:a="http://schemas.openxmlformats.org/drawingml/2006/main">
            <a:r>
              <a:t>- /Users/kian/Developer/vélo/europe-trip-presentation/research/story-notes.txt</a:t>
            </a:r>
          </a:p>
          <a:p xmlns:a="http://schemas.openxmlformats.org/drawingml/2006/main">
            <a:r>
              <a:t>- /Users/kian/Developer/vélo/europe-trip-presentation/assets/photos/finish-night.jpg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8c8c02cf1b48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12bb77abbf4685" /><Relationship Type="http://schemas.openxmlformats.org/officeDocument/2006/relationships/slideLayout" Target="/ppt/slideLayouts/slideLayout1.xml" Id="Rb3f65d74d5ab47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f65d74d5ab47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d4de7edec942bc" /><Relationship Type="http://schemas.openxmlformats.org/officeDocument/2006/relationships/image" Target="/ppt/media/image.jpeg" Id="R27d88eeecdab46e4" /><Relationship Type="http://schemas.openxmlformats.org/officeDocument/2006/relationships/notesSlide" Target="/ppt/notesSlides/notesSlide1.xml" Id="R7ead0fdb85c745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ab78a67731402e" /><Relationship Type="http://schemas.openxmlformats.org/officeDocument/2006/relationships/image" Target="/ppt/media/image2.jpeg" Id="R5d95ddc4e7e1486c" /><Relationship Type="http://schemas.openxmlformats.org/officeDocument/2006/relationships/notesSlide" Target="/ppt/notesSlides/notesSlide2.xml" Id="R00716453913647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79b8b536ca4d2c" /><Relationship Type="http://schemas.openxmlformats.org/officeDocument/2006/relationships/chart" Target="/ppt/slides/charts/chart1.xml" Id="R5ceba99431ab4d0f" /><Relationship Type="http://schemas.openxmlformats.org/officeDocument/2006/relationships/notesSlide" Target="/ppt/notesSlides/notesSlide3.xml" Id="R6b7c238ebf1243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b6968da3cf42ca" /><Relationship Type="http://schemas.openxmlformats.org/officeDocument/2006/relationships/image" Target="/ppt/media/image3.jpeg" Id="R2f2f8b88afc44127" /><Relationship Type="http://schemas.openxmlformats.org/officeDocument/2006/relationships/image" Target="/ppt/media/image4.jpeg" Id="Rf1ef2797fd744469" /><Relationship Type="http://schemas.openxmlformats.org/officeDocument/2006/relationships/notesSlide" Target="/ppt/notesSlides/notesSlide4.xml" Id="Rdd4b28aa3e4147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f5bdf9c4d7485e" /><Relationship Type="http://schemas.openxmlformats.org/officeDocument/2006/relationships/image" Target="/ppt/media/image5.jpeg" Id="R6796b301d900484f" /><Relationship Type="http://schemas.openxmlformats.org/officeDocument/2006/relationships/notesSlide" Target="/ppt/notesSlides/notesSlide5.xml" Id="R27877bc5a3254a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f7ebb71939468e" /><Relationship Type="http://schemas.openxmlformats.org/officeDocument/2006/relationships/image" Target="/ppt/media/image6.jpeg" Id="Rb5d0b8128463474f" /><Relationship Type="http://schemas.openxmlformats.org/officeDocument/2006/relationships/image" Target="/ppt/media/image7.jpeg" Id="R3d1bb746895c45df" /><Relationship Type="http://schemas.openxmlformats.org/officeDocument/2006/relationships/image" Target="/ppt/media/image8.jpeg" Id="R176d906a688a4af1" /><Relationship Type="http://schemas.openxmlformats.org/officeDocument/2006/relationships/notesSlide" Target="/ppt/notesSlides/notesSlide6.xml" Id="Rc5522df6d7ee44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f5375c6a024b1a" /><Relationship Type="http://schemas.openxmlformats.org/officeDocument/2006/relationships/image" Target="/ppt/media/image9.jpeg" Id="R61039630c3244e3a" /><Relationship Type="http://schemas.openxmlformats.org/officeDocument/2006/relationships/notesSlide" Target="/ppt/notesSlides/notesSlide7.xml" Id="Rd776a7562f154a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40f4be74ab442f" /><Relationship Type="http://schemas.openxmlformats.org/officeDocument/2006/relationships/notesSlide" Target="/ppt/notesSlides/notesSlide8.xml" Id="Rfb79a765927c46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64bd9be1fe4df6" /><Relationship Type="http://schemas.openxmlformats.org/officeDocument/2006/relationships/image" Target="/ppt/media/image10.jpeg" Id="Rc18b599d10b04b75" /><Relationship Type="http://schemas.openxmlformats.org/officeDocument/2006/relationships/image" Target="/ppt/media/image11.jpeg" Id="R07eff92387de4843" /><Relationship Type="http://schemas.openxmlformats.org/officeDocument/2006/relationships/notesSlide" Target="/ppt/notesSlides/notesSlide9.xml" Id="R85b5d1b8454843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1047ac5cc743de" /><Relationship Type="http://schemas.openxmlformats.org/officeDocument/2006/relationships/image" Target="/ppt/media/image12.jpeg" Id="R446aec20a74e4488" /><Relationship Type="http://schemas.openxmlformats.org/officeDocument/2006/relationships/image" Target="/ppt/media/image13.jpeg" Id="R39eae9be061d4d5f" /><Relationship Type="http://schemas.openxmlformats.org/officeDocument/2006/relationships/notesSlide" Target="/ppt/notesSlides/notesSlide10.xml" Id="Re04be1d1c51545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7431a4f6af435e" /><Relationship Type="http://schemas.openxmlformats.org/officeDocument/2006/relationships/image" Target="/ppt/media/image14.jpeg" Id="Rd40fc76f1a13476a" /><Relationship Type="http://schemas.openxmlformats.org/officeDocument/2006/relationships/notesSlide" Target="/ppt/notesSlides/notesSlide11.xml" Id="R225ba152aa6940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458434c007c436e" /><Relationship Type="http://schemas.openxmlformats.org/officeDocument/2006/relationships/image" Target="/ppt/media/image15.jpeg" Id="R8b74ab80e13440cd" /><Relationship Type="http://schemas.openxmlformats.org/officeDocument/2006/relationships/image" Target="/ppt/media/image16.jpeg" Id="Ra409431e427c43f2" /><Relationship Type="http://schemas.openxmlformats.org/officeDocument/2006/relationships/image" Target="/ppt/media/image17.jpeg" Id="Rdc9d3f0cf570471f" /><Relationship Type="http://schemas.openxmlformats.org/officeDocument/2006/relationships/notesSlide" Target="/ppt/notesSlides/notesSlide12.xml" Id="R35f3a994faf840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e1791d5b3e45e7" /><Relationship Type="http://schemas.openxmlformats.org/officeDocument/2006/relationships/image" Target="/ppt/media/image18.jpeg" Id="R9826ae0b5fc548e3" /><Relationship Type="http://schemas.openxmlformats.org/officeDocument/2006/relationships/image" Target="/ppt/media/image19.jpeg" Id="R019070449dae44a9" /><Relationship Type="http://schemas.openxmlformats.org/officeDocument/2006/relationships/image" Target="/ppt/media/image20.jpeg" Id="R2246038bf73c405b" /><Relationship Type="http://schemas.openxmlformats.org/officeDocument/2006/relationships/notesSlide" Target="/ppt/notesSlides/notesSlide13.xml" Id="R6a31757573804d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c8d87e6dc54ee1" /><Relationship Type="http://schemas.openxmlformats.org/officeDocument/2006/relationships/image" Target="/ppt/media/image21.jpeg" Id="R902dfe61c47347a4" /><Relationship Type="http://schemas.openxmlformats.org/officeDocument/2006/relationships/image" Target="/ppt/media/image22.jpeg" Id="R3a1d46942e4840d9" /><Relationship Type="http://schemas.openxmlformats.org/officeDocument/2006/relationships/notesSlide" Target="/ppt/notesSlides/notesSlide14.xml" Id="R2f31ebdaaeb743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1ebf3f612f4a28" /><Relationship Type="http://schemas.openxmlformats.org/officeDocument/2006/relationships/image" Target="/ppt/media/image23.jpeg" Id="R6b94d1e85e554294" /><Relationship Type="http://schemas.openxmlformats.org/officeDocument/2006/relationships/image" Target="/ppt/media/image24.jpeg" Id="R4da4edbdc532414c" /><Relationship Type="http://schemas.openxmlformats.org/officeDocument/2006/relationships/image" Target="/ppt/media/image25.jpeg" Id="R9cdf18ae8b554463" /><Relationship Type="http://schemas.openxmlformats.org/officeDocument/2006/relationships/notesSlide" Target="/ppt/notesSlides/notesSlide15.xml" Id="R2660d8e55c854b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9c3dfad9ec4a3d" /><Relationship Type="http://schemas.openxmlformats.org/officeDocument/2006/relationships/image" Target="/ppt/media/image26.jpeg" Id="R4fb09fef144b4db4" /><Relationship Type="http://schemas.openxmlformats.org/officeDocument/2006/relationships/notesSlide" Target="/ppt/notesSlides/notesSlide16.xml" Id="R272595ff6377417d" /></Relationships>
</file>

<file path=ppt/slides/charts/chart1.xml><?xml version="1.0" encoding="utf-8"?>
<c:chartSpace xmlns:c="http://schemas.openxmlformats.org/drawingml/2006/chart">
  <c:lang val="en-US"/>
  <c:chart>
    <c:plotArea>
      <c:barChart>
        <c:barDir val="col"/>
        <c:grouping val="clustered"/>
        <c:varyColors val="0"/>
        <c:ser>
          <c:idx val="0"/>
          <c:order val="0"/>
          <c:tx>
            <c:v>Kilometres</c:v>
          </c:tx>
          <c:spPr>
            <a:solidFill xmlns:a="http://schemas.openxmlformats.org/drawingml/2006/main">
              <a:srgbClr val="B43B2D"/>
            </a:solidFill>
          </c:spPr>
          <c:dPt>
            <c:idx val="4"/>
            <c:invertIfNegative val="0"/>
            <c:spPr>
              <a:solidFill xmlns:a="http://schemas.openxmlformats.org/drawingml/2006/main">
                <a:srgbClr val="CFC1AB"/>
              </a:solidFill>
            </c:spPr>
          </c:dPt>
          <c:dPt>
            <c:idx val="11"/>
            <c:invertIfNegative val="0"/>
            <c:spPr>
              <a:solidFill xmlns:a="http://schemas.openxmlformats.org/drawingml/2006/main">
                <a:srgbClr val="CFC1AB"/>
              </a:solidFill>
            </c:spPr>
          </c:dPt>
          <c:dPt>
            <c:idx val="13"/>
            <c:invertIfNegative val="0"/>
            <c:spPr>
              <a:solidFill xmlns:a="http://schemas.openxmlformats.org/drawingml/2006/main">
                <a:srgbClr val="CFC1AB"/>
              </a:solidFill>
            </c:spPr>
          </c:dPt>
          <c:dPt>
            <c:idx val="15"/>
            <c:invertIfNegative val="0"/>
            <c:spPr>
              <a:solidFill xmlns:a="http://schemas.openxmlformats.org/drawingml/2006/main">
                <a:srgbClr val="E26A2C"/>
              </a:solidFill>
            </c:spPr>
          </c:dPt>
          <c:dPt>
            <c:idx val="16"/>
            <c:invertIfNegative val="0"/>
            <c:spPr>
              <a:solidFill xmlns:a="http://schemas.openxmlformats.org/drawingml/2006/main">
                <a:srgbClr val="E26A2C"/>
              </a:solidFill>
            </c:spPr>
          </c:dPt>
          <c:cat>
            <c:numLit>
              <c:formatCode>General</c:formatCode>
              <c:ptCount val="17"/>
              <c:pt idx="0">
                <c:v>24</c:v>
              </c:pt>
              <c:pt idx="1">
                <c:v>25</c:v>
              </c:pt>
              <c:pt idx="2">
                <c:v>26</c:v>
              </c:pt>
              <c:pt idx="3">
                <c:v>27</c:v>
              </c:pt>
              <c:pt idx="4">
                <c:v>28</c:v>
              </c:pt>
              <c:pt idx="5">
                <c:v>29</c:v>
              </c:pt>
              <c:pt idx="6">
                <c:v>30</c:v>
              </c:pt>
              <c:pt idx="7">
                <c:v>1</c:v>
              </c:pt>
              <c:pt idx="8">
                <c:v>2</c:v>
              </c:pt>
              <c:pt idx="9">
                <c:v>3</c:v>
              </c:pt>
              <c:pt idx="10">
                <c:v>4</c:v>
              </c:pt>
              <c:pt idx="11">
                <c:v>5</c:v>
              </c:pt>
              <c:pt idx="12">
                <c:v>6</c:v>
              </c:pt>
              <c:pt idx="13">
                <c:v>7</c:v>
              </c:pt>
              <c:pt idx="14">
                <c:v>8</c:v>
              </c:pt>
              <c:pt idx="15">
                <c:v>9</c:v>
              </c:pt>
              <c:pt idx="16">
                <c:v>10</c:v>
              </c:pt>
            </c:numLit>
          </c:cat>
          <c:val>
            <c:numLit>
              <c:formatCode>0</c:formatCode>
              <c:ptCount val="17"/>
              <c:pt idx="0">
                <c:v>224.37</c:v>
              </c:pt>
              <c:pt idx="1">
                <c:v>157.57</c:v>
              </c:pt>
              <c:pt idx="2">
                <c:v>202.55</c:v>
              </c:pt>
              <c:pt idx="3">
                <c:v>278.06</c:v>
              </c:pt>
              <c:pt idx="4">
                <c:v>0</c:v>
              </c:pt>
              <c:pt idx="5">
                <c:v>135.6</c:v>
              </c:pt>
              <c:pt idx="6">
                <c:v>163.87</c:v>
              </c:pt>
              <c:pt idx="7">
                <c:v>140.66</c:v>
              </c:pt>
              <c:pt idx="8">
                <c:v>172.48</c:v>
              </c:pt>
              <c:pt idx="9">
                <c:v>274.98</c:v>
              </c:pt>
              <c:pt idx="10">
                <c:v>287.47</c:v>
              </c:pt>
              <c:pt idx="11">
                <c:v>0</c:v>
              </c:pt>
              <c:pt idx="12">
                <c:v>206.39</c:v>
              </c:pt>
              <c:pt idx="13">
                <c:v>0</c:v>
              </c:pt>
              <c:pt idx="14">
                <c:v>197.17</c:v>
              </c:pt>
              <c:pt idx="15">
                <c:v>337.84</c:v>
              </c:pt>
              <c:pt idx="16">
                <c:v>270.42</c:v>
              </c:pt>
            </c:numLit>
          </c:val>
        </c:ser>
        <c:gapWidth val="3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C1AB"/>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6F695F"/>
                </a:solidFill>
              </a:defRPr>
            </a:pPr>
          </a:p>
        </c:txPr>
        <c:crossAx val="48672768"/>
      </c:catAx>
      <c:valAx>
        <c:axId val="48672768"/>
        <c:scaling>
          <c:orientation val="minMax"/>
          <c:max val="350"/>
          <c:min val="0"/>
        </c:scaling>
        <c:delete val="0"/>
        <c:axPos val="l"/>
        <c:majorGridlines>
          <c:spPr>
            <a:ln xmlns:a="http://schemas.openxmlformats.org/drawingml/2006/main" w="9525">
              <a:solidFill>
                <a:srgbClr val="CFC1A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695F"/>
                </a:solidFill>
              </a:defRPr>
            </a:pPr>
          </a:p>
        </c:txPr>
        <c:crossAx val="48650112"/>
        <c:crossBetween val="between"/>
        <c:majorUnit val="5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95ADC7-312B-4E0D-87CA-F0DE30D6D438}"/>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d88eeecdab46e4"/>
          <a:srcRect xmlns:a="http://schemas.openxmlformats.org/drawingml/2006/main" l="0" t="5738" r="0" b="5738"/>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FBC481-0FC6-461B-B678-023247245543}"/>
              </a:ext>
            </a:extLst>
          </p:cNvPr>
          <p:cNvSpPr>
            <a:spLocks xmlns:a="http://schemas.openxmlformats.org/drawingml/2006/main" noGrp="1"/>
          </p:cNvSpPr>
          <p:nvPr/>
        </p:nvSpPr>
        <p:spPr>
          <a:xfrm xmlns:a="http://schemas.openxmlformats.org/drawingml/2006/main">
            <a:off x="6115050" y="0"/>
            <a:ext cx="400050" cy="6858000"/>
          </a:xfrm>
          <a:prstGeom xmlns:a="http://schemas.openxmlformats.org/drawingml/2006/main" prst="rect">
            <a:avLst/>
          </a:prstGeom>
          <a:solidFill xmlns:a="http://schemas.openxmlformats.org/drawingml/2006/main">
            <a:srgbClr val="B43B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DBBA4D-8E36-456A-9B32-5051D41B5DBF}"/>
              </a:ext>
            </a:extLst>
          </p:cNvPr>
          <p:cNvSpPr>
            <a:spLocks xmlns:a="http://schemas.openxmlformats.org/drawingml/2006/main" noGrp="1"/>
          </p:cNvSpPr>
          <p:nvPr/>
        </p:nvSpPr>
        <p:spPr>
          <a:xfrm xmlns:a="http://schemas.openxmlformats.org/drawingml/2006/main">
            <a:off x="666750" y="5143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24 JUN → 10 JUL 2026</a:t>
            </a:r>
          </a:p>
        </p:txBody>
      </p:sp>
      <p:sp>
        <p:nvSpPr>
          <p:cNvPr id="5" name="">
            <a:extLst xmlns:a="http://schemas.openxmlformats.org/drawingml/2006/main">
              <a:ext uri="{FF2B5EF4-FFF2-40B4-BE49-F238E27FC236}">
                <a16:creationId xmlns:a16="http://schemas.microsoft.com/office/drawing/2014/main" id="{9DA2C365-CC4C-45D5-BC3D-C71A95BF4DFF}"/>
              </a:ext>
            </a:extLst>
          </p:cNvPr>
          <p:cNvSpPr>
            <a:spLocks xmlns:a="http://schemas.openxmlformats.org/drawingml/2006/main" noGrp="1"/>
          </p:cNvSpPr>
          <p:nvPr/>
        </p:nvSpPr>
        <p:spPr>
          <a:xfrm xmlns:a="http://schemas.openxmlformats.org/drawingml/2006/main">
            <a:off x="666750" y="112395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3000"/>
              </a:lnSpc>
              <a:buNone/>
              <a:defRPr sz="5700" b="1" i="0">
                <a:solidFill>
                  <a:srgbClr val="FCF8F1"/>
                </a:solidFill>
                <a:latin typeface="DIN Condensed"/>
                <a:ea typeface="DIN Condensed"/>
                <a:cs typeface="DIN Condensed"/>
              </a:defRPr>
            </a:pPr>
            <a:r>
              <a:rPr sz="5700" b="1" i="0">
                <a:solidFill>
                  <a:srgbClr val="FCF8F1"/>
                </a:solidFill>
                <a:latin typeface="DIN Condensed"/>
                <a:ea typeface="DIN Condensed"/>
                <a:cs typeface="DIN Condensed"/>
              </a:rPr>
              <a:t>EUROPE</a:t>
            </a:r>
          </a:p>
          <a:p xmlns:a="http://schemas.openxmlformats.org/drawingml/2006/main">
            <a:pPr algn="l">
              <a:lnSpc>
                <a:spcPct val="83000"/>
              </a:lnSpc>
              <a:buNone/>
              <a:defRPr sz="5700" b="1" i="0">
                <a:solidFill>
                  <a:srgbClr val="FCF8F1"/>
                </a:solidFill>
                <a:latin typeface="DIN Condensed"/>
                <a:ea typeface="DIN Condensed"/>
                <a:cs typeface="DIN Condensed"/>
              </a:defRPr>
            </a:pPr>
            <a:r>
              <a:rPr sz="5700" b="1" i="0">
                <a:solidFill>
                  <a:srgbClr val="FCF8F1"/>
                </a:solidFill>
                <a:latin typeface="DIN Condensed"/>
                <a:ea typeface="DIN Condensed"/>
                <a:cs typeface="DIN Condensed"/>
              </a:rPr>
              <a:t>BY BICYCLE</a:t>
            </a:r>
          </a:p>
        </p:txBody>
      </p:sp>
      <p:sp>
        <p:nvSpPr>
          <p:cNvPr id="6" name="">
            <a:extLst xmlns:a="http://schemas.openxmlformats.org/drawingml/2006/main">
              <a:ext uri="{FF2B5EF4-FFF2-40B4-BE49-F238E27FC236}">
                <a16:creationId xmlns:a16="http://schemas.microsoft.com/office/drawing/2014/main" id="{1F4046C2-8B51-4B49-98F7-569886277501}"/>
              </a:ext>
            </a:extLst>
          </p:cNvPr>
          <p:cNvSpPr>
            <a:spLocks xmlns:a="http://schemas.openxmlformats.org/drawingml/2006/main" noGrp="1"/>
          </p:cNvSpPr>
          <p:nvPr/>
        </p:nvSpPr>
        <p:spPr>
          <a:xfrm xmlns:a="http://schemas.openxmlformats.org/drawingml/2006/main">
            <a:off x="685800" y="39052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14 riding days  /  7 countries  /  3,049.44 km</a:t>
            </a:r>
          </a:p>
        </p:txBody>
      </p:sp>
      <p:sp>
        <p:nvSpPr>
          <p:cNvPr id="7" name="">
            <a:extLst xmlns:a="http://schemas.openxmlformats.org/drawingml/2006/main">
              <a:ext uri="{FF2B5EF4-FFF2-40B4-BE49-F238E27FC236}">
                <a16:creationId xmlns:a16="http://schemas.microsoft.com/office/drawing/2014/main" id="{6870C19B-D605-4CE5-BA8A-8D4FD5EE6375}"/>
              </a:ext>
            </a:extLst>
          </p:cNvPr>
          <p:cNvSpPr>
            <a:spLocks xmlns:a="http://schemas.openxmlformats.org/drawingml/2006/main" noGrp="1"/>
          </p:cNvSpPr>
          <p:nvPr/>
        </p:nvSpPr>
        <p:spPr>
          <a:xfrm xmlns:a="http://schemas.openxmlformats.org/drawingml/2006/main">
            <a:off x="685800" y="4762500"/>
            <a:ext cx="838200" cy="0"/>
          </a:xfrm>
          <a:prstGeom xmlns:a="http://schemas.openxmlformats.org/drawingml/2006/main" prst="line">
            <a:avLst/>
          </a:prstGeom>
          <a:noFill xmlns:a="http://schemas.openxmlformats.org/drawingml/2006/main"/>
          <a:ln xmlns:a="http://schemas.openxmlformats.org/drawingml/2006/main" w="47625">
            <a:solidFill>
              <a:srgbClr val="E26A2C"/>
            </a:solidFill>
            <a:prstDash val="solid"/>
          </a:ln>
        </p:spPr>
      </p:sp>
      <p:sp>
        <p:nvSpPr>
          <p:cNvPr id="8" name="">
            <a:extLst xmlns:a="http://schemas.openxmlformats.org/drawingml/2006/main">
              <a:ext uri="{FF2B5EF4-FFF2-40B4-BE49-F238E27FC236}">
                <a16:creationId xmlns:a16="http://schemas.microsoft.com/office/drawing/2014/main" id="{10E7C348-25A7-48ED-B665-BE66622C3365}"/>
              </a:ext>
            </a:extLst>
          </p:cNvPr>
          <p:cNvSpPr>
            <a:spLocks xmlns:a="http://schemas.openxmlformats.org/drawingml/2006/main" noGrp="1"/>
          </p:cNvSpPr>
          <p:nvPr/>
        </p:nvSpPr>
        <p:spPr>
          <a:xfrm xmlns:a="http://schemas.openxmlformats.org/drawingml/2006/main">
            <a:off x="685800" y="5048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00" b="0" i="0">
                <a:solidFill>
                  <a:srgbClr val="D9D2C7"/>
                </a:solidFill>
                <a:latin typeface="Avenir Next"/>
                <a:ea typeface="Avenir Next"/>
                <a:cs typeface="Avenir Next"/>
              </a:defRPr>
            </a:pPr>
            <a:r>
              <a:rPr sz="1800" b="0" i="0">
                <a:solidFill>
                  <a:srgbClr val="D9D2C7"/>
                </a:solidFill>
                <a:latin typeface="Avenir Next"/>
                <a:ea typeface="Avenir Next"/>
                <a:cs typeface="Avenir Next"/>
              </a:rPr>
              <a:t>This is the trip I actually rode, not the route I drew before leaving.</a:t>
            </a:r>
          </a:p>
        </p:txBody>
      </p:sp>
    </p:spTree>
    <p:extLst>
      <p:ext uri="{BB962C8B-B14F-4D97-AF65-F5344CB8AC3E}">
        <p14:creationId xmlns:p14="http://schemas.microsoft.com/office/powerpoint/2010/main" val="709191605"/>
      </p:ext>
    </p:extLst>
  </p:cSld>
</p:sld>
</file>

<file path=ppt/slides/slide2.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ECC753-9F8C-43AC-9C01-A95EEA49CFD7}"/>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THE WHOLE LOOP</a:t>
            </a:r>
          </a:p>
        </p:txBody>
      </p:sp>
      <p:sp>
        <p:nvSpPr>
          <p:cNvPr id="2" name="">
            <a:extLst xmlns:a="http://schemas.openxmlformats.org/drawingml/2006/main">
              <a:ext uri="{FF2B5EF4-FFF2-40B4-BE49-F238E27FC236}">
                <a16:creationId xmlns:a16="http://schemas.microsoft.com/office/drawing/2014/main" id="{404EBE91-A1FF-406A-924B-A5B4C09EF026}"/>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17 ELAPSED DAYS</a:t>
            </a:r>
          </a:p>
        </p:txBody>
      </p:sp>
      <p:sp>
        <p:nvSpPr>
          <p:cNvPr id="3" name="">
            <a:extLst xmlns:a="http://schemas.openxmlformats.org/drawingml/2006/main">
              <a:ext uri="{FF2B5EF4-FFF2-40B4-BE49-F238E27FC236}">
                <a16:creationId xmlns:a16="http://schemas.microsoft.com/office/drawing/2014/main" id="{BA63224D-70D3-4AD4-A04B-54215824073F}"/>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9F15A37C-7AB4-4129-9239-61D925A3D8BA}"/>
              </a:ext>
            </a:extLst>
          </p:cNvPr>
          <p:cNvSpPr>
            <a:spLocks xmlns:a="http://schemas.openxmlformats.org/drawingml/2006/main" noGrp="1"/>
          </p:cNvSpPr>
          <p:nvPr/>
        </p:nvSpPr>
        <p:spPr>
          <a:xfrm xmlns:a="http://schemas.openxmlformats.org/drawingml/2006/main">
            <a:off x="419100" y="876300"/>
            <a:ext cx="6572250" cy="5276850"/>
          </a:xfrm>
          <a:prstGeom xmlns:a="http://schemas.openxmlformats.org/drawingml/2006/main" prst="roundRect">
            <a:avLst>
              <a:gd name="adj" fmla="val 3249"/>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d95ddc4e7e1486c"/>
          <a:srcRect xmlns:a="http://schemas.openxmlformats.org/drawingml/2006/main" l="15459" t="0" r="15459" b="0"/>
          <a:stretch xmlns:a="http://schemas.openxmlformats.org/drawingml/2006/main">
            <a:fillRect l="0" t="0" r="0" b="0"/>
          </a:stretch>
        </p:blipFill>
        <p:spPr>
          <a:xfrm xmlns:a="http://schemas.openxmlformats.org/drawingml/2006/main">
            <a:off x="628650" y="1009650"/>
            <a:ext cx="6153150" cy="5010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4C60CC-B6BC-4335-BAF5-4B93EB46BD42}"/>
              </a:ext>
            </a:extLst>
          </p:cNvPr>
          <p:cNvSpPr>
            <a:spLocks xmlns:a="http://schemas.openxmlformats.org/drawingml/2006/main" noGrp="1"/>
          </p:cNvSpPr>
          <p:nvPr/>
        </p:nvSpPr>
        <p:spPr>
          <a:xfrm xmlns:a="http://schemas.openxmlformats.org/drawingml/2006/main">
            <a:off x="4629150" y="4476750"/>
            <a:ext cx="2152650" cy="1543050"/>
          </a:xfrm>
          <a:prstGeom xmlns:a="http://schemas.openxmlformats.org/drawingml/2006/main" prst="roundRect">
            <a:avLst>
              <a:gd name="adj" fmla="val 6173"/>
            </a:avLst>
          </a:prstGeom>
          <a:solidFill xmlns:a="http://schemas.openxmlformats.org/drawingml/2006/main">
            <a:srgbClr val="18181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B96364-D2C0-4D78-9BB3-91589772F58E}"/>
              </a:ext>
            </a:extLst>
          </p:cNvPr>
          <p:cNvSpPr>
            <a:spLocks xmlns:a="http://schemas.openxmlformats.org/drawingml/2006/main" noGrp="1"/>
          </p:cNvSpPr>
          <p:nvPr/>
        </p:nvSpPr>
        <p:spPr>
          <a:xfrm xmlns:a="http://schemas.openxmlformats.org/drawingml/2006/main">
            <a:off x="4857750" y="47244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1" i="0">
                <a:solidFill>
                  <a:srgbClr val="E26A2C"/>
                </a:solidFill>
                <a:latin typeface="DIN Condensed"/>
                <a:ea typeface="DIN Condensed"/>
                <a:cs typeface="DIN Condensed"/>
              </a:defRPr>
            </a:pPr>
            <a:r>
              <a:rPr sz="1575" b="1" i="0">
                <a:solidFill>
                  <a:srgbClr val="E26A2C"/>
                </a:solidFill>
                <a:latin typeface="DIN Condensed"/>
                <a:ea typeface="DIN Condensed"/>
                <a:cs typeface="DIN Condensed"/>
              </a:rPr>
              <a:t>14 RIDING DAYS</a:t>
            </a:r>
          </a:p>
        </p:txBody>
      </p:sp>
      <p:sp>
        <p:nvSpPr>
          <p:cNvPr id="8" name="">
            <a:extLst xmlns:a="http://schemas.openxmlformats.org/drawingml/2006/main">
              <a:ext uri="{FF2B5EF4-FFF2-40B4-BE49-F238E27FC236}">
                <a16:creationId xmlns:a16="http://schemas.microsoft.com/office/drawing/2014/main" id="{32B5C12F-F7C6-4C9C-AEE5-62FB8ACDB215}"/>
              </a:ext>
            </a:extLst>
          </p:cNvPr>
          <p:cNvSpPr>
            <a:spLocks xmlns:a="http://schemas.openxmlformats.org/drawingml/2006/main" noGrp="1"/>
          </p:cNvSpPr>
          <p:nvPr/>
        </p:nvSpPr>
        <p:spPr>
          <a:xfrm xmlns:a="http://schemas.openxmlformats.org/drawingml/2006/main">
            <a:off x="4857750" y="51435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1" i="0">
                <a:solidFill>
                  <a:srgbClr val="FCF8F1"/>
                </a:solidFill>
                <a:latin typeface="DIN Condensed"/>
                <a:ea typeface="DIN Condensed"/>
                <a:cs typeface="DIN Condensed"/>
              </a:defRPr>
            </a:pPr>
            <a:r>
              <a:rPr sz="1575" b="1" i="0">
                <a:solidFill>
                  <a:srgbClr val="FCF8F1"/>
                </a:solidFill>
                <a:latin typeface="DIN Condensed"/>
                <a:ea typeface="DIN Condensed"/>
                <a:cs typeface="DIN Condensed"/>
              </a:rPr>
              <a:t>3 REST DAYS</a:t>
            </a:r>
          </a:p>
        </p:txBody>
      </p:sp>
      <p:sp>
        <p:nvSpPr>
          <p:cNvPr id="9" name="">
            <a:extLst xmlns:a="http://schemas.openxmlformats.org/drawingml/2006/main">
              <a:ext uri="{FF2B5EF4-FFF2-40B4-BE49-F238E27FC236}">
                <a16:creationId xmlns:a16="http://schemas.microsoft.com/office/drawing/2014/main" id="{0D629F9E-2068-4589-9794-6B2A89BB6A8E}"/>
              </a:ext>
            </a:extLst>
          </p:cNvPr>
          <p:cNvSpPr>
            <a:spLocks xmlns:a="http://schemas.openxmlformats.org/drawingml/2006/main" noGrp="1"/>
          </p:cNvSpPr>
          <p:nvPr/>
        </p:nvSpPr>
        <p:spPr>
          <a:xfrm xmlns:a="http://schemas.openxmlformats.org/drawingml/2006/main">
            <a:off x="7429500" y="1028700"/>
            <a:ext cx="4000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THE PLAN</a:t>
            </a:r>
          </a:p>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AND THE RIDE</a:t>
            </a:r>
          </a:p>
        </p:txBody>
      </p:sp>
      <p:sp>
        <p:nvSpPr>
          <p:cNvPr id="10" name="">
            <a:extLst xmlns:a="http://schemas.openxmlformats.org/drawingml/2006/main">
              <a:ext uri="{FF2B5EF4-FFF2-40B4-BE49-F238E27FC236}">
                <a16:creationId xmlns:a16="http://schemas.microsoft.com/office/drawing/2014/main" id="{5CF86DF5-A221-4993-AF34-DED78C106977}"/>
              </a:ext>
            </a:extLst>
          </p:cNvPr>
          <p:cNvSpPr>
            <a:spLocks xmlns:a="http://schemas.openxmlformats.org/drawingml/2006/main" noGrp="1"/>
          </p:cNvSpPr>
          <p:nvPr/>
        </p:nvSpPr>
        <p:spPr>
          <a:xfrm xmlns:a="http://schemas.openxmlformats.org/drawingml/2006/main">
            <a:off x="7429500" y="2324100"/>
            <a:ext cx="40005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11" name="">
            <a:extLst xmlns:a="http://schemas.openxmlformats.org/drawingml/2006/main">
              <a:ext uri="{FF2B5EF4-FFF2-40B4-BE49-F238E27FC236}">
                <a16:creationId xmlns:a16="http://schemas.microsoft.com/office/drawing/2014/main" id="{92D1294D-2D81-4362-8FC0-E7C067D6FEB5}"/>
              </a:ext>
            </a:extLst>
          </p:cNvPr>
          <p:cNvSpPr>
            <a:spLocks xmlns:a="http://schemas.openxmlformats.org/drawingml/2006/main" noGrp="1"/>
          </p:cNvSpPr>
          <p:nvPr/>
        </p:nvSpPr>
        <p:spPr>
          <a:xfrm xmlns:a="http://schemas.openxmlformats.org/drawingml/2006/main">
            <a:off x="7429500" y="26479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6F695F"/>
                </a:solidFill>
                <a:latin typeface="DIN Condensed"/>
                <a:ea typeface="DIN Condensed"/>
                <a:cs typeface="DIN Condensed"/>
              </a:defRPr>
            </a:pPr>
            <a:r>
              <a:rPr sz="4350" b="1" i="0">
                <a:solidFill>
                  <a:srgbClr val="6F695F"/>
                </a:solidFill>
                <a:latin typeface="DIN Condensed"/>
                <a:ea typeface="DIN Condensed"/>
                <a:cs typeface="DIN Condensed"/>
              </a:rPr>
              <a:t>4,173</a:t>
            </a:r>
          </a:p>
        </p:txBody>
      </p:sp>
      <p:sp>
        <p:nvSpPr>
          <p:cNvPr id="12" name="">
            <a:extLst xmlns:a="http://schemas.openxmlformats.org/drawingml/2006/main">
              <a:ext uri="{FF2B5EF4-FFF2-40B4-BE49-F238E27FC236}">
                <a16:creationId xmlns:a16="http://schemas.microsoft.com/office/drawing/2014/main" id="{8889AA43-2DB6-4CDF-9A45-58923C7F7390}"/>
              </a:ext>
            </a:extLst>
          </p:cNvPr>
          <p:cNvSpPr>
            <a:spLocks xmlns:a="http://schemas.openxmlformats.org/drawingml/2006/main" noGrp="1"/>
          </p:cNvSpPr>
          <p:nvPr/>
        </p:nvSpPr>
        <p:spPr>
          <a:xfrm xmlns:a="http://schemas.openxmlformats.org/drawingml/2006/main">
            <a:off x="7429500" y="32861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KM IN THE ORIGINAL GPX</a:t>
            </a:r>
          </a:p>
        </p:txBody>
      </p:sp>
      <p:sp>
        <p:nvSpPr>
          <p:cNvPr id="13" name="">
            <a:extLst xmlns:a="http://schemas.openxmlformats.org/drawingml/2006/main">
              <a:ext uri="{FF2B5EF4-FFF2-40B4-BE49-F238E27FC236}">
                <a16:creationId xmlns:a16="http://schemas.microsoft.com/office/drawing/2014/main" id="{D98B1CF3-EBB5-43EB-AF74-327ADDC6A383}"/>
              </a:ext>
            </a:extLst>
          </p:cNvPr>
          <p:cNvSpPr>
            <a:spLocks xmlns:a="http://schemas.openxmlformats.org/drawingml/2006/main" noGrp="1"/>
          </p:cNvSpPr>
          <p:nvPr/>
        </p:nvSpPr>
        <p:spPr>
          <a:xfrm xmlns:a="http://schemas.openxmlformats.org/drawingml/2006/main">
            <a:off x="9486900" y="264795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B43B2D"/>
                </a:solidFill>
                <a:latin typeface="DIN Condensed"/>
                <a:ea typeface="DIN Condensed"/>
                <a:cs typeface="DIN Condensed"/>
              </a:defRPr>
            </a:pPr>
            <a:r>
              <a:rPr sz="4350" b="1" i="0">
                <a:solidFill>
                  <a:srgbClr val="B43B2D"/>
                </a:solidFill>
                <a:latin typeface="DIN Condensed"/>
                <a:ea typeface="DIN Condensed"/>
                <a:cs typeface="DIN Condensed"/>
              </a:rPr>
              <a:t>3,049.44</a:t>
            </a:r>
          </a:p>
        </p:txBody>
      </p:sp>
      <p:sp>
        <p:nvSpPr>
          <p:cNvPr id="14" name="">
            <a:extLst xmlns:a="http://schemas.openxmlformats.org/drawingml/2006/main">
              <a:ext uri="{FF2B5EF4-FFF2-40B4-BE49-F238E27FC236}">
                <a16:creationId xmlns:a16="http://schemas.microsoft.com/office/drawing/2014/main" id="{F6512BC6-18FD-435E-93D3-9850CA009277}"/>
              </a:ext>
            </a:extLst>
          </p:cNvPr>
          <p:cNvSpPr>
            <a:spLocks xmlns:a="http://schemas.openxmlformats.org/drawingml/2006/main" noGrp="1"/>
          </p:cNvSpPr>
          <p:nvPr/>
        </p:nvSpPr>
        <p:spPr>
          <a:xfrm xmlns:a="http://schemas.openxmlformats.org/drawingml/2006/main">
            <a:off x="9486900" y="3286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KM ACTUALLY RIDDEN</a:t>
            </a:r>
          </a:p>
        </p:txBody>
      </p:sp>
      <p:sp>
        <p:nvSpPr>
          <p:cNvPr id="15" name="">
            <a:extLst xmlns:a="http://schemas.openxmlformats.org/drawingml/2006/main">
              <a:ext uri="{FF2B5EF4-FFF2-40B4-BE49-F238E27FC236}">
                <a16:creationId xmlns:a16="http://schemas.microsoft.com/office/drawing/2014/main" id="{F5CF79FB-2556-496F-A677-72D2F5DE4052}"/>
              </a:ext>
            </a:extLst>
          </p:cNvPr>
          <p:cNvSpPr>
            <a:spLocks xmlns:a="http://schemas.openxmlformats.org/drawingml/2006/main" noGrp="1"/>
          </p:cNvSpPr>
          <p:nvPr/>
        </p:nvSpPr>
        <p:spPr>
          <a:xfrm xmlns:a="http://schemas.openxmlformats.org/drawingml/2006/main">
            <a:off x="7429500" y="390525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0" i="0">
                <a:solidFill>
                  <a:srgbClr val="1B1A16"/>
                </a:solidFill>
                <a:latin typeface="Avenir Next"/>
                <a:ea typeface="Avenir Next"/>
                <a:cs typeface="Avenir Next"/>
              </a:defRPr>
            </a:pPr>
            <a:r>
              <a:rPr sz="1575" b="0" i="0">
                <a:solidFill>
                  <a:srgbClr val="1B1A16"/>
                </a:solidFill>
                <a:latin typeface="Avenir Next"/>
                <a:ea typeface="Avenir Next"/>
                <a:cs typeface="Avenir Next"/>
              </a:rPr>
              <a:t>The vlog says 3,000. The map graphic says 3,100. The GPS, FIT and Strava audit resolves it to 3,049.438 km.</a:t>
            </a:r>
          </a:p>
        </p:txBody>
      </p:sp>
      <p:sp>
        <p:nvSpPr>
          <p:cNvPr id="16" name="">
            <a:extLst xmlns:a="http://schemas.openxmlformats.org/drawingml/2006/main">
              <a:ext uri="{FF2B5EF4-FFF2-40B4-BE49-F238E27FC236}">
                <a16:creationId xmlns:a16="http://schemas.microsoft.com/office/drawing/2014/main" id="{F1AFF8BE-618F-46E4-93EA-2F25D41E299C}"/>
              </a:ext>
            </a:extLst>
          </p:cNvPr>
          <p:cNvSpPr>
            <a:spLocks xmlns:a="http://schemas.openxmlformats.org/drawingml/2006/main" noGrp="1"/>
          </p:cNvSpPr>
          <p:nvPr/>
        </p:nvSpPr>
        <p:spPr>
          <a:xfrm xmlns:a="http://schemas.openxmlformats.org/drawingml/2006/main">
            <a:off x="7429500" y="5238750"/>
            <a:ext cx="4000500" cy="685800"/>
          </a:xfrm>
          <a:prstGeom xmlns:a="http://schemas.openxmlformats.org/drawingml/2006/main" prst="roundRect">
            <a:avLst>
              <a:gd name="adj" fmla="val 16667"/>
            </a:avLst>
          </a:prstGeom>
          <a:solidFill xmlns:a="http://schemas.openxmlformats.org/drawingml/2006/main">
            <a:srgbClr val="E6DB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5D512C3-A286-4CAD-93AC-DEFD8141B75B}"/>
              </a:ext>
            </a:extLst>
          </p:cNvPr>
          <p:cNvSpPr>
            <a:spLocks xmlns:a="http://schemas.openxmlformats.org/drawingml/2006/main" noGrp="1"/>
          </p:cNvSpPr>
          <p:nvPr/>
        </p:nvSpPr>
        <p:spPr>
          <a:xfrm xmlns:a="http://schemas.openxmlformats.org/drawingml/2006/main">
            <a:off x="7620000" y="541972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8000"/>
              </a:lnSpc>
              <a:buNone/>
              <a:defRPr sz="1050" b="1" i="0">
                <a:solidFill>
                  <a:srgbClr val="6F695F"/>
                </a:solidFill>
                <a:latin typeface="Avenir Next"/>
                <a:ea typeface="Avenir Next"/>
                <a:cs typeface="Avenir Next"/>
              </a:defRPr>
            </a:pPr>
            <a:r>
              <a:rPr sz="1050" b="1" i="0">
                <a:solidFill>
                  <a:srgbClr val="6F695F"/>
                </a:solidFill>
                <a:latin typeface="Avenir Next"/>
                <a:ea typeface="Avenir Next"/>
                <a:cs typeface="Avenir Next"/>
              </a:rPr>
              <a:t>EXCLUDED: S-BAHN + BRIG→SION + GENEVA→VALSERHÔNE TRAINS</a:t>
            </a:r>
          </a:p>
        </p:txBody>
      </p:sp>
      <p:sp>
        <p:nvSpPr>
          <p:cNvPr id="18" name="">
            <a:extLst xmlns:a="http://schemas.openxmlformats.org/drawingml/2006/main">
              <a:ext uri="{FF2B5EF4-FFF2-40B4-BE49-F238E27FC236}">
                <a16:creationId xmlns:a16="http://schemas.microsoft.com/office/drawing/2014/main" id="{45306DDC-795E-4CE3-AD17-F7FAD4BD854D}"/>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9" name="">
            <a:extLst xmlns:a="http://schemas.openxmlformats.org/drawingml/2006/main">
              <a:ext uri="{FF2B5EF4-FFF2-40B4-BE49-F238E27FC236}">
                <a16:creationId xmlns:a16="http://schemas.microsoft.com/office/drawing/2014/main" id="{7EEDDFCA-00EE-4A6E-ADA6-CC88F806ABF8}"/>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02</a:t>
            </a:r>
          </a:p>
        </p:txBody>
      </p:sp>
    </p:spTree>
    <p:extLst>
      <p:ext uri="{BB962C8B-B14F-4D97-AF65-F5344CB8AC3E}">
        <p14:creationId xmlns:p14="http://schemas.microsoft.com/office/powerpoint/2010/main" val="13546396"/>
      </p:ext>
    </p:extLst>
  </p:cSld>
</p:sld>
</file>

<file path=ppt/slides/slide3.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5BA3EF-1E6A-4B95-A8A2-DD3EBC4C5F78}"/>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DAILY RIDING DISTANCE</a:t>
            </a:r>
          </a:p>
        </p:txBody>
      </p:sp>
      <p:sp>
        <p:nvSpPr>
          <p:cNvPr id="2" name="">
            <a:extLst xmlns:a="http://schemas.openxmlformats.org/drawingml/2006/main">
              <a:ext uri="{FF2B5EF4-FFF2-40B4-BE49-F238E27FC236}">
                <a16:creationId xmlns:a16="http://schemas.microsoft.com/office/drawing/2014/main" id="{52A74F73-C402-4C99-A65F-BA97001032F1}"/>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KM / TRAINS REMOVED</a:t>
            </a:r>
          </a:p>
        </p:txBody>
      </p:sp>
      <p:sp>
        <p:nvSpPr>
          <p:cNvPr id="3" name="">
            <a:extLst xmlns:a="http://schemas.openxmlformats.org/drawingml/2006/main">
              <a:ext uri="{FF2B5EF4-FFF2-40B4-BE49-F238E27FC236}">
                <a16:creationId xmlns:a16="http://schemas.microsoft.com/office/drawing/2014/main" id="{C6553777-117C-441B-B071-35474DCADC9D}"/>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3DAF1738-33FE-449B-85BB-0E417B3F4AC5}"/>
              </a:ext>
            </a:extLst>
          </p:cNvPr>
          <p:cNvSpPr>
            <a:spLocks xmlns:a="http://schemas.openxmlformats.org/drawingml/2006/main" noGrp="1"/>
          </p:cNvSpPr>
          <p:nvPr/>
        </p:nvSpPr>
        <p:spPr>
          <a:xfrm xmlns:a="http://schemas.openxmlformats.org/drawingml/2006/main">
            <a:off x="609600" y="89535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600" b="1" i="0">
                <a:solidFill>
                  <a:srgbClr val="1B1A16"/>
                </a:solidFill>
                <a:latin typeface="DIN Condensed"/>
                <a:ea typeface="DIN Condensed"/>
                <a:cs typeface="DIN Condensed"/>
              </a:defRPr>
            </a:pPr>
            <a:r>
              <a:rPr sz="3600" b="1" i="0">
                <a:solidFill>
                  <a:srgbClr val="1B1A16"/>
                </a:solidFill>
                <a:latin typeface="DIN Condensed"/>
                <a:ea typeface="DIN Condensed"/>
                <a:cs typeface="DIN Condensed"/>
              </a:rPr>
              <a:t>THE SHAPE OF 3,049 KM</a:t>
            </a:r>
          </a:p>
        </p:txBody>
      </p:sp>
      <p:sp>
        <p:nvSpPr>
          <p:cNvPr id="5" name="">
            <a:extLst xmlns:a="http://schemas.openxmlformats.org/drawingml/2006/main">
              <a:ext uri="{FF2B5EF4-FFF2-40B4-BE49-F238E27FC236}">
                <a16:creationId xmlns:a16="http://schemas.microsoft.com/office/drawing/2014/main" id="{E73D7DBD-6920-46FA-877C-387962CBBA51}"/>
              </a:ext>
            </a:extLst>
          </p:cNvPr>
          <p:cNvSpPr>
            <a:spLocks xmlns:a="http://schemas.openxmlformats.org/drawingml/2006/main" noGrp="1"/>
          </p:cNvSpPr>
          <p:nvPr/>
        </p:nvSpPr>
        <p:spPr>
          <a:xfrm xmlns:a="http://schemas.openxmlformats.org/drawingml/2006/main">
            <a:off x="609600" y="15049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0" i="0">
                <a:solidFill>
                  <a:srgbClr val="6F695F"/>
                </a:solidFill>
                <a:latin typeface="Avenir Next"/>
                <a:ea typeface="Avenir Next"/>
                <a:cs typeface="Avenir Next"/>
              </a:defRPr>
            </a:pPr>
            <a:r>
              <a:rPr sz="1575" b="0" i="0">
                <a:solidFill>
                  <a:srgbClr val="6F695F"/>
                </a:solidFill>
                <a:latin typeface="Avenir Next"/>
                <a:ea typeface="Avenir Next"/>
                <a:cs typeface="Avenir Next"/>
              </a:rPr>
              <a:t>The last two bars are not a typo.</a:t>
            </a:r>
          </a:p>
        </p:txBody>
      </p:sp>
      <p:graphicFrame>
        <p:nvGraphicFramePr>
          <p:cNvPr id="21" name="Chart"/>
          <p:cNvGraphicFramePr/>
          <p:nvPr/>
        </p:nvGraphicFramePr>
        <p:xfrm>
          <a:off xmlns:a="http://schemas.openxmlformats.org/drawingml/2006/main" x="552450" y="2038350"/>
          <a:ext xmlns:a="http://schemas.openxmlformats.org/drawingml/2006/main" cx="11049000" cy="3238500"/>
        </p:xfrm>
        <a:graphic xmlns:a="http://schemas.openxmlformats.org/drawingml/2006/main">
          <a:graphicData uri="http://schemas.openxmlformats.org/drawingml/2006/chart">
            <c:chart xmlns:r="http://schemas.openxmlformats.org/officeDocument/2006/relationships" xmlns:c="http://schemas.openxmlformats.org/drawingml/2006/chart" r:id="R5ceba99431ab4d0f"/>
          </a:graphicData>
        </a:graphic>
      </p:graphicFrame>
      <p:sp>
        <p:nvSpPr>
          <p:cNvPr id="7" name="">
            <a:extLst xmlns:a="http://schemas.openxmlformats.org/drawingml/2006/main">
              <a:ext uri="{FF2B5EF4-FFF2-40B4-BE49-F238E27FC236}">
                <a16:creationId xmlns:a16="http://schemas.microsoft.com/office/drawing/2014/main" id="{09CC2657-36E8-4C9C-A867-9C3FF726A262}"/>
              </a:ext>
            </a:extLst>
          </p:cNvPr>
          <p:cNvSpPr>
            <a:spLocks xmlns:a="http://schemas.openxmlformats.org/drawingml/2006/main" noGrp="1"/>
          </p:cNvSpPr>
          <p:nvPr/>
        </p:nvSpPr>
        <p:spPr>
          <a:xfrm xmlns:a="http://schemas.openxmlformats.org/drawingml/2006/main">
            <a:off x="685800" y="530542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75" b="1" i="0">
                <a:solidFill>
                  <a:srgbClr val="6F695F"/>
                </a:solidFill>
                <a:latin typeface="Avenir Next"/>
                <a:ea typeface="Avenir Next"/>
                <a:cs typeface="Avenir Next"/>
              </a:defRPr>
            </a:pPr>
            <a:r>
              <a:rPr sz="975" b="1" i="0">
                <a:solidFill>
                  <a:srgbClr val="6F695F"/>
                </a:solidFill>
                <a:latin typeface="Avenir Next"/>
                <a:ea typeface="Avenir Next"/>
                <a:cs typeface="Avenir Next"/>
              </a:rPr>
              <a:t>JUNE</a:t>
            </a:r>
          </a:p>
        </p:txBody>
      </p:sp>
      <p:sp>
        <p:nvSpPr>
          <p:cNvPr id="8" name="">
            <a:extLst xmlns:a="http://schemas.openxmlformats.org/drawingml/2006/main">
              <a:ext uri="{FF2B5EF4-FFF2-40B4-BE49-F238E27FC236}">
                <a16:creationId xmlns:a16="http://schemas.microsoft.com/office/drawing/2014/main" id="{15E245D2-4958-4594-B778-447A69FE612B}"/>
              </a:ext>
            </a:extLst>
          </p:cNvPr>
          <p:cNvSpPr>
            <a:spLocks xmlns:a="http://schemas.openxmlformats.org/drawingml/2006/main" noGrp="1"/>
          </p:cNvSpPr>
          <p:nvPr/>
        </p:nvSpPr>
        <p:spPr>
          <a:xfrm xmlns:a="http://schemas.openxmlformats.org/drawingml/2006/main">
            <a:off x="5162550" y="5305425"/>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75" b="1" i="0">
                <a:solidFill>
                  <a:srgbClr val="6F695F"/>
                </a:solidFill>
                <a:latin typeface="Avenir Next"/>
                <a:ea typeface="Avenir Next"/>
                <a:cs typeface="Avenir Next"/>
              </a:defRPr>
            </a:pPr>
            <a:r>
              <a:rPr sz="975" b="1" i="0">
                <a:solidFill>
                  <a:srgbClr val="6F695F"/>
                </a:solidFill>
                <a:latin typeface="Avenir Next"/>
                <a:ea typeface="Avenir Next"/>
                <a:cs typeface="Avenir Next"/>
              </a:rPr>
              <a:t>JULY</a:t>
            </a:r>
          </a:p>
        </p:txBody>
      </p:sp>
      <p:sp>
        <p:nvSpPr>
          <p:cNvPr id="9" name="">
            <a:extLst xmlns:a="http://schemas.openxmlformats.org/drawingml/2006/main">
              <a:ext uri="{FF2B5EF4-FFF2-40B4-BE49-F238E27FC236}">
                <a16:creationId xmlns:a16="http://schemas.microsoft.com/office/drawing/2014/main" id="{4A29B748-039C-4D6D-A053-EE0E59091B6B}"/>
              </a:ext>
            </a:extLst>
          </p:cNvPr>
          <p:cNvSpPr>
            <a:spLocks xmlns:a="http://schemas.openxmlformats.org/drawingml/2006/main" noGrp="1"/>
          </p:cNvSpPr>
          <p:nvPr/>
        </p:nvSpPr>
        <p:spPr>
          <a:xfrm xmlns:a="http://schemas.openxmlformats.org/drawingml/2006/main">
            <a:off x="609600" y="5715000"/>
            <a:ext cx="10972800" cy="552450"/>
          </a:xfrm>
          <a:prstGeom xmlns:a="http://schemas.openxmlformats.org/drawingml/2006/main" prst="roundRect">
            <a:avLst>
              <a:gd name="adj" fmla="val 20690"/>
            </a:avLst>
          </a:prstGeom>
          <a:solidFill xmlns:a="http://schemas.openxmlformats.org/drawingml/2006/main">
            <a:srgbClr val="18181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397B517-573C-4138-B299-BD4B3A437129}"/>
              </a:ext>
            </a:extLst>
          </p:cNvPr>
          <p:cNvSpPr>
            <a:spLocks xmlns:a="http://schemas.openxmlformats.org/drawingml/2006/main" noGrp="1"/>
          </p:cNvSpPr>
          <p:nvPr/>
        </p:nvSpPr>
        <p:spPr>
          <a:xfrm xmlns:a="http://schemas.openxmlformats.org/drawingml/2006/main">
            <a:off x="838200" y="5886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FINAL 2 DAYS</a:t>
            </a:r>
          </a:p>
        </p:txBody>
      </p:sp>
      <p:sp>
        <p:nvSpPr>
          <p:cNvPr id="11" name="">
            <a:extLst xmlns:a="http://schemas.openxmlformats.org/drawingml/2006/main">
              <a:ext uri="{FF2B5EF4-FFF2-40B4-BE49-F238E27FC236}">
                <a16:creationId xmlns:a16="http://schemas.microsoft.com/office/drawing/2014/main" id="{9C5BEDAE-F995-4F17-849C-C0D5E4FACBA0}"/>
              </a:ext>
            </a:extLst>
          </p:cNvPr>
          <p:cNvSpPr>
            <a:spLocks xmlns:a="http://schemas.openxmlformats.org/drawingml/2006/main" noGrp="1"/>
          </p:cNvSpPr>
          <p:nvPr/>
        </p:nvSpPr>
        <p:spPr>
          <a:xfrm xmlns:a="http://schemas.openxmlformats.org/drawingml/2006/main">
            <a:off x="2571750" y="57912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608.26 KM</a:t>
            </a:r>
          </a:p>
        </p:txBody>
      </p:sp>
      <p:sp>
        <p:nvSpPr>
          <p:cNvPr id="12" name="">
            <a:extLst xmlns:a="http://schemas.openxmlformats.org/drawingml/2006/main">
              <a:ext uri="{FF2B5EF4-FFF2-40B4-BE49-F238E27FC236}">
                <a16:creationId xmlns:a16="http://schemas.microsoft.com/office/drawing/2014/main" id="{7CE74D31-1D95-4045-B0A3-35041B598D30}"/>
              </a:ext>
            </a:extLst>
          </p:cNvPr>
          <p:cNvSpPr>
            <a:spLocks xmlns:a="http://schemas.openxmlformats.org/drawingml/2006/main" noGrp="1"/>
          </p:cNvSpPr>
          <p:nvPr/>
        </p:nvSpPr>
        <p:spPr>
          <a:xfrm xmlns:a="http://schemas.openxmlformats.org/drawingml/2006/main">
            <a:off x="6210300" y="5886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LONGEST DAY</a:t>
            </a:r>
          </a:p>
        </p:txBody>
      </p:sp>
      <p:sp>
        <p:nvSpPr>
          <p:cNvPr id="13" name="">
            <a:extLst xmlns:a="http://schemas.openxmlformats.org/drawingml/2006/main">
              <a:ext uri="{FF2B5EF4-FFF2-40B4-BE49-F238E27FC236}">
                <a16:creationId xmlns:a16="http://schemas.microsoft.com/office/drawing/2014/main" id="{BD590145-67D8-480C-9A85-612788EE7F5A}"/>
              </a:ext>
            </a:extLst>
          </p:cNvPr>
          <p:cNvSpPr>
            <a:spLocks xmlns:a="http://schemas.openxmlformats.org/drawingml/2006/main" noGrp="1"/>
          </p:cNvSpPr>
          <p:nvPr/>
        </p:nvSpPr>
        <p:spPr>
          <a:xfrm xmlns:a="http://schemas.openxmlformats.org/drawingml/2006/main">
            <a:off x="7924800" y="57912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337.84 KM</a:t>
            </a:r>
          </a:p>
        </p:txBody>
      </p:sp>
      <p:sp>
        <p:nvSpPr>
          <p:cNvPr id="14" name="">
            <a:extLst xmlns:a="http://schemas.openxmlformats.org/drawingml/2006/main">
              <a:ext uri="{FF2B5EF4-FFF2-40B4-BE49-F238E27FC236}">
                <a16:creationId xmlns:a16="http://schemas.microsoft.com/office/drawing/2014/main" id="{F9675FEB-54BA-44BA-9B59-1B5C59902690}"/>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5" name="">
            <a:extLst xmlns:a="http://schemas.openxmlformats.org/drawingml/2006/main">
              <a:ext uri="{FF2B5EF4-FFF2-40B4-BE49-F238E27FC236}">
                <a16:creationId xmlns:a16="http://schemas.microsoft.com/office/drawing/2014/main" id="{35B55DBA-73C3-4E7D-835A-45023F2BAC0B}"/>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03</a:t>
            </a:r>
          </a:p>
        </p:txBody>
      </p:sp>
    </p:spTree>
    <p:extLst>
      <p:ext uri="{BB962C8B-B14F-4D97-AF65-F5344CB8AC3E}">
        <p14:creationId xmlns:p14="http://schemas.microsoft.com/office/powerpoint/2010/main" val="1379236080"/>
      </p:ext>
    </p:extLst>
  </p:cSld>
</p:sld>
</file>

<file path=ppt/slides/slide4.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3D18A0B-F927-41D3-AA4E-DF9AEB4020FC}"/>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23 JUNE / FRANKFURT</a:t>
            </a:r>
          </a:p>
        </p:txBody>
      </p:sp>
      <p:sp>
        <p:nvSpPr>
          <p:cNvPr id="2" name="">
            <a:extLst xmlns:a="http://schemas.openxmlformats.org/drawingml/2006/main">
              <a:ext uri="{FF2B5EF4-FFF2-40B4-BE49-F238E27FC236}">
                <a16:creationId xmlns:a16="http://schemas.microsoft.com/office/drawing/2014/main" id="{9B501F54-56C6-43EF-81E7-A6CA0AB766D3}"/>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THE DAY BEFORE RIDE 1</a:t>
            </a:r>
          </a:p>
        </p:txBody>
      </p:sp>
      <p:sp>
        <p:nvSpPr>
          <p:cNvPr id="3" name="">
            <a:extLst xmlns:a="http://schemas.openxmlformats.org/drawingml/2006/main">
              <a:ext uri="{FF2B5EF4-FFF2-40B4-BE49-F238E27FC236}">
                <a16:creationId xmlns:a16="http://schemas.microsoft.com/office/drawing/2014/main" id="{FC623C19-0F0A-4AE6-9F48-44E2A1C0B785}"/>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f2f8b88afc44127"/>
          <a:srcRect xmlns:a="http://schemas.openxmlformats.org/drawingml/2006/main" l="0" t="15630" r="0" b="15630"/>
          <a:stretch xmlns:a="http://schemas.openxmlformats.org/drawingml/2006/main">
            <a:fillRect l="0" t="0" r="0" b="0"/>
          </a:stretch>
        </p:blipFill>
        <p:spPr>
          <a:xfrm xmlns:a="http://schemas.openxmlformats.org/drawingml/2006/main">
            <a:off x="609600" y="990600"/>
            <a:ext cx="4286250" cy="22098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1ef2797fd744469"/>
          <a:srcRect xmlns:a="http://schemas.openxmlformats.org/drawingml/2006/main" l="172" t="0" r="172" b="0"/>
          <a:stretch xmlns:a="http://schemas.openxmlformats.org/drawingml/2006/main">
            <a:fillRect l="0" t="0" r="0" b="0"/>
          </a:stretch>
        </p:blipFill>
        <p:spPr>
          <a:xfrm xmlns:a="http://schemas.openxmlformats.org/drawingml/2006/main">
            <a:off x="609600" y="3371850"/>
            <a:ext cx="4286250" cy="2419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91F7F8F-C0D1-4E9B-9034-388A5181489E}"/>
              </a:ext>
            </a:extLst>
          </p:cNvPr>
          <p:cNvSpPr>
            <a:spLocks xmlns:a="http://schemas.openxmlformats.org/drawingml/2006/main" noGrp="1"/>
          </p:cNvSpPr>
          <p:nvPr/>
        </p:nvSpPr>
        <p:spPr>
          <a:xfrm xmlns:a="http://schemas.openxmlformats.org/drawingml/2006/main">
            <a:off x="5181600" y="990600"/>
            <a:ext cx="6400800" cy="4800600"/>
          </a:xfrm>
          <a:prstGeom xmlns:a="http://schemas.openxmlformats.org/drawingml/2006/main" prst="roundRect">
            <a:avLst>
              <a:gd name="adj" fmla="val 3571"/>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D44A837-399B-4757-A51E-F9F695E058A8}"/>
              </a:ext>
            </a:extLst>
          </p:cNvPr>
          <p:cNvSpPr>
            <a:spLocks xmlns:a="http://schemas.openxmlformats.org/drawingml/2006/main" noGrp="1"/>
          </p:cNvSpPr>
          <p:nvPr/>
        </p:nvSpPr>
        <p:spPr>
          <a:xfrm xmlns:a="http://schemas.openxmlformats.org/drawingml/2006/main">
            <a:off x="5619750" y="1390650"/>
            <a:ext cx="5524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BEFORE KILOMETRE ONE,</a:t>
            </a:r>
          </a:p>
          <a:p xmlns:a="http://schemas.openxmlformats.org/drawingml/2006/main">
            <a:pPr algn="l">
              <a:lnSpc>
                <a:spcPct val="90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THE BIKE WAS ALREADY LOOSE</a:t>
            </a:r>
          </a:p>
        </p:txBody>
      </p:sp>
      <p:sp>
        <p:nvSpPr>
          <p:cNvPr id="8" name="">
            <a:extLst xmlns:a="http://schemas.openxmlformats.org/drawingml/2006/main">
              <a:ext uri="{FF2B5EF4-FFF2-40B4-BE49-F238E27FC236}">
                <a16:creationId xmlns:a16="http://schemas.microsoft.com/office/drawing/2014/main" id="{B003273A-160E-4CBA-A31D-2093776A347C}"/>
              </a:ext>
            </a:extLst>
          </p:cNvPr>
          <p:cNvSpPr>
            <a:spLocks xmlns:a="http://schemas.openxmlformats.org/drawingml/2006/main" noGrp="1"/>
          </p:cNvSpPr>
          <p:nvPr/>
        </p:nvSpPr>
        <p:spPr>
          <a:xfrm xmlns:a="http://schemas.openxmlformats.org/drawingml/2006/main">
            <a:off x="5619750" y="2781300"/>
            <a:ext cx="800100" cy="0"/>
          </a:xfrm>
          <a:prstGeom xmlns:a="http://schemas.openxmlformats.org/drawingml/2006/main" prst="line">
            <a:avLst/>
          </a:prstGeom>
          <a:noFill xmlns:a="http://schemas.openxmlformats.org/drawingml/2006/main"/>
          <a:ln xmlns:a="http://schemas.openxmlformats.org/drawingml/2006/main" w="47625">
            <a:solidFill>
              <a:srgbClr val="B43B2D"/>
            </a:solidFill>
            <a:prstDash val="solid"/>
          </a:ln>
        </p:spPr>
      </p:sp>
      <p:sp>
        <p:nvSpPr>
          <p:cNvPr id="9" name="">
            <a:extLst xmlns:a="http://schemas.openxmlformats.org/drawingml/2006/main">
              <a:ext uri="{FF2B5EF4-FFF2-40B4-BE49-F238E27FC236}">
                <a16:creationId xmlns:a16="http://schemas.microsoft.com/office/drawing/2014/main" id="{7C96FC35-469F-48BA-BC43-76290718447B}"/>
              </a:ext>
            </a:extLst>
          </p:cNvPr>
          <p:cNvSpPr>
            <a:spLocks xmlns:a="http://schemas.openxmlformats.org/drawingml/2006/main" noGrp="1"/>
          </p:cNvSpPr>
          <p:nvPr/>
        </p:nvSpPr>
        <p:spPr>
          <a:xfrm xmlns:a="http://schemas.openxmlformats.org/drawingml/2006/main">
            <a:off x="5619750" y="3105150"/>
            <a:ext cx="5238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0" i="0">
                <a:solidFill>
                  <a:srgbClr val="1B1A16"/>
                </a:solidFill>
                <a:latin typeface="Avenir Next"/>
                <a:ea typeface="Avenir Next"/>
                <a:cs typeface="Avenir Next"/>
              </a:defRPr>
            </a:pPr>
            <a:r>
              <a:rPr sz="1725" b="0" i="0">
                <a:solidFill>
                  <a:srgbClr val="1B1A16"/>
                </a:solidFill>
                <a:latin typeface="Avenir Next"/>
                <a:ea typeface="Avenir Next"/>
                <a:cs typeface="Avenir Next"/>
              </a:rPr>
              <a:t>I unpacked the bike in 33°C heat, rebuilt it, added the wrong tubeless sealant, and watched the headset rotate loose on the test ride.</a:t>
            </a:r>
          </a:p>
        </p:txBody>
      </p:sp>
      <p:sp>
        <p:nvSpPr>
          <p:cNvPr id="10" name="">
            <a:extLst xmlns:a="http://schemas.openxmlformats.org/drawingml/2006/main">
              <a:ext uri="{FF2B5EF4-FFF2-40B4-BE49-F238E27FC236}">
                <a16:creationId xmlns:a16="http://schemas.microsoft.com/office/drawing/2014/main" id="{E685CFD8-9EF7-405B-9F4B-AD95DEED2D8D}"/>
              </a:ext>
            </a:extLst>
          </p:cNvPr>
          <p:cNvSpPr>
            <a:spLocks xmlns:a="http://schemas.openxmlformats.org/drawingml/2006/main" noGrp="1"/>
          </p:cNvSpPr>
          <p:nvPr/>
        </p:nvSpPr>
        <p:spPr>
          <a:xfrm xmlns:a="http://schemas.openxmlformats.org/drawingml/2006/main">
            <a:off x="5619750" y="4667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THE FIRST PLAN CHANGE</a:t>
            </a:r>
          </a:p>
        </p:txBody>
      </p:sp>
      <p:sp>
        <p:nvSpPr>
          <p:cNvPr id="11" name="">
            <a:extLst xmlns:a="http://schemas.openxmlformats.org/drawingml/2006/main">
              <a:ext uri="{FF2B5EF4-FFF2-40B4-BE49-F238E27FC236}">
                <a16:creationId xmlns:a16="http://schemas.microsoft.com/office/drawing/2014/main" id="{E474E378-D008-41D6-9AD1-CF5FECDBF88E}"/>
              </a:ext>
            </a:extLst>
          </p:cNvPr>
          <p:cNvSpPr>
            <a:spLocks xmlns:a="http://schemas.openxmlformats.org/drawingml/2006/main" noGrp="1"/>
          </p:cNvSpPr>
          <p:nvPr/>
        </p:nvSpPr>
        <p:spPr>
          <a:xfrm xmlns:a="http://schemas.openxmlformats.org/drawingml/2006/main">
            <a:off x="5619750" y="49720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100" b="0" i="1">
                <a:solidFill>
                  <a:srgbClr val="1B1A16"/>
                </a:solidFill>
                <a:latin typeface="Georgia"/>
                <a:ea typeface="Georgia"/>
                <a:cs typeface="Georgia"/>
              </a:defRPr>
            </a:pPr>
            <a:r>
              <a:rPr sz="2100" b="0" i="1">
                <a:solidFill>
                  <a:srgbClr val="1B1A16"/>
                </a:solidFill>
                <a:latin typeface="Georgia"/>
                <a:ea typeface="Georgia"/>
                <a:cs typeface="Georgia"/>
              </a:rPr>
              <a:t>Leave tomorrow morning instead.</a:t>
            </a:r>
          </a:p>
        </p:txBody>
      </p:sp>
      <p:sp>
        <p:nvSpPr>
          <p:cNvPr id="12" name="">
            <a:extLst xmlns:a="http://schemas.openxmlformats.org/drawingml/2006/main">
              <a:ext uri="{FF2B5EF4-FFF2-40B4-BE49-F238E27FC236}">
                <a16:creationId xmlns:a16="http://schemas.microsoft.com/office/drawing/2014/main" id="{BC164CFF-1C19-4EC7-AD85-4F553FC49FE0}"/>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3" name="">
            <a:extLst xmlns:a="http://schemas.openxmlformats.org/drawingml/2006/main">
              <a:ext uri="{FF2B5EF4-FFF2-40B4-BE49-F238E27FC236}">
                <a16:creationId xmlns:a16="http://schemas.microsoft.com/office/drawing/2014/main" id="{A033375A-6ECB-440E-8965-6962B529194B}"/>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04</a:t>
            </a:r>
          </a:p>
        </p:txBody>
      </p:sp>
    </p:spTree>
    <p:extLst>
      <p:ext uri="{BB962C8B-B14F-4D97-AF65-F5344CB8AC3E}">
        <p14:creationId xmlns:p14="http://schemas.microsoft.com/office/powerpoint/2010/main" val="1639608677"/>
      </p:ext>
    </p:extLst>
  </p:cSld>
</p:sld>
</file>

<file path=ppt/slides/slide5.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796b301d900484f"/>
          <a:srcRect xmlns:a="http://schemas.openxmlformats.org/drawingml/2006/main" l="4444" t="0" r="4444" b="0"/>
          <a:stretch xmlns:a="http://schemas.openxmlformats.org/drawingml/2006/main">
            <a:fillRect l="0" t="0" r="0" b="0"/>
          </a:stretch>
        </p:blipFill>
        <p:spPr>
          <a:xfrm xmlns:a="http://schemas.openxmlformats.org/drawingml/2006/main">
            <a:off x="7505700" y="0"/>
            <a:ext cx="46863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D8F00A-62B5-4133-9495-3E2EFB8B5E5C}"/>
              </a:ext>
            </a:extLst>
          </p:cNvPr>
          <p:cNvSpPr>
            <a:spLocks xmlns:a="http://schemas.openxmlformats.org/drawingml/2006/main" noGrp="1"/>
          </p:cNvSpPr>
          <p:nvPr/>
        </p:nvSpPr>
        <p:spPr>
          <a:xfrm xmlns:a="http://schemas.openxmlformats.org/drawingml/2006/main">
            <a:off x="0" y="0"/>
            <a:ext cx="765810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9F47B20-F9C1-4B5F-AC3B-3A377A14F0B8}"/>
              </a:ext>
            </a:extLst>
          </p:cNvPr>
          <p:cNvSpPr>
            <a:spLocks xmlns:a="http://schemas.openxmlformats.org/drawingml/2006/main" noGrp="1"/>
          </p:cNvSpPr>
          <p:nvPr/>
        </p:nvSpPr>
        <p:spPr>
          <a:xfrm xmlns:a="http://schemas.openxmlformats.org/drawingml/2006/main">
            <a:off x="609600" y="3810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24 JUN / RIDE 1</a:t>
            </a:r>
          </a:p>
        </p:txBody>
      </p:sp>
      <p:sp>
        <p:nvSpPr>
          <p:cNvPr id="4" name="">
            <a:extLst xmlns:a="http://schemas.openxmlformats.org/drawingml/2006/main">
              <a:ext uri="{FF2B5EF4-FFF2-40B4-BE49-F238E27FC236}">
                <a16:creationId xmlns:a16="http://schemas.microsoft.com/office/drawing/2014/main" id="{57EF8F0B-8A28-47D0-ABDC-FD5F15E963EA}"/>
              </a:ext>
            </a:extLst>
          </p:cNvPr>
          <p:cNvSpPr>
            <a:spLocks xmlns:a="http://schemas.openxmlformats.org/drawingml/2006/main" noGrp="1"/>
          </p:cNvSpPr>
          <p:nvPr/>
        </p:nvSpPr>
        <p:spPr>
          <a:xfrm xmlns:a="http://schemas.openxmlformats.org/drawingml/2006/main">
            <a:off x="609600" y="990600"/>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2000"/>
              </a:lnSpc>
              <a:buNone/>
              <a:defRPr sz="4350" b="1" i="0">
                <a:solidFill>
                  <a:srgbClr val="FCF8F1"/>
                </a:solidFill>
                <a:latin typeface="DIN Condensed"/>
                <a:ea typeface="DIN Condensed"/>
                <a:cs typeface="DIN Condensed"/>
              </a:defRPr>
            </a:pPr>
            <a:r>
              <a:rPr sz="4350" b="1" i="0">
                <a:solidFill>
                  <a:srgbClr val="FCF8F1"/>
                </a:solidFill>
                <a:latin typeface="DIN Condensed"/>
                <a:ea typeface="DIN Condensed"/>
                <a:cs typeface="DIN Condensed"/>
              </a:rPr>
              <a:t>ONE PEDAL.</a:t>
            </a:r>
          </a:p>
          <a:p xmlns:a="http://schemas.openxmlformats.org/drawingml/2006/main">
            <a:pPr algn="l">
              <a:lnSpc>
                <a:spcPct val="82000"/>
              </a:lnSpc>
              <a:buNone/>
              <a:defRPr sz="4350" b="1" i="0">
                <a:solidFill>
                  <a:srgbClr val="FCF8F1"/>
                </a:solidFill>
                <a:latin typeface="DIN Condensed"/>
                <a:ea typeface="DIN Condensed"/>
                <a:cs typeface="DIN Condensed"/>
              </a:defRPr>
            </a:pPr>
            <a:r>
              <a:rPr sz="4350" b="1" i="0">
                <a:solidFill>
                  <a:srgbClr val="FCF8F1"/>
                </a:solidFill>
                <a:latin typeface="DIN Condensed"/>
                <a:ea typeface="DIN Condensed"/>
                <a:cs typeface="DIN Condensed"/>
              </a:rPr>
              <a:t>FOUR BIKE SHOPS.</a:t>
            </a:r>
          </a:p>
          <a:p xmlns:a="http://schemas.openxmlformats.org/drawingml/2006/main">
            <a:pPr algn="l">
              <a:lnSpc>
                <a:spcPct val="82000"/>
              </a:lnSpc>
              <a:buNone/>
              <a:defRPr sz="4350" b="1" i="0">
                <a:solidFill>
                  <a:srgbClr val="FCF8F1"/>
                </a:solidFill>
                <a:latin typeface="DIN Condensed"/>
                <a:ea typeface="DIN Condensed"/>
                <a:cs typeface="DIN Condensed"/>
              </a:defRPr>
            </a:pPr>
            <a:r>
              <a:rPr sz="4350" b="1" i="0">
                <a:solidFill>
                  <a:srgbClr val="FCF8F1"/>
                </a:solidFill>
                <a:latin typeface="DIN Condensed"/>
                <a:ea typeface="DIN Condensed"/>
                <a:cs typeface="DIN Condensed"/>
              </a:rPr>
              <a:t>224.37 KM.</a:t>
            </a:r>
          </a:p>
        </p:txBody>
      </p:sp>
      <p:sp>
        <p:nvSpPr>
          <p:cNvPr id="5" name="">
            <a:extLst xmlns:a="http://schemas.openxmlformats.org/drawingml/2006/main">
              <a:ext uri="{FF2B5EF4-FFF2-40B4-BE49-F238E27FC236}">
                <a16:creationId xmlns:a16="http://schemas.microsoft.com/office/drawing/2014/main" id="{30B935BF-AB62-4F56-B415-7A8CDCC67C20}"/>
              </a:ext>
            </a:extLst>
          </p:cNvPr>
          <p:cNvSpPr>
            <a:spLocks xmlns:a="http://schemas.openxmlformats.org/drawingml/2006/main" noGrp="1"/>
          </p:cNvSpPr>
          <p:nvPr/>
        </p:nvSpPr>
        <p:spPr>
          <a:xfrm xmlns:a="http://schemas.openxmlformats.org/drawingml/2006/main">
            <a:off x="628650" y="3314700"/>
            <a:ext cx="619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0" i="0">
                <a:solidFill>
                  <a:srgbClr val="D9D2C7"/>
                </a:solidFill>
                <a:latin typeface="Avenir Next"/>
                <a:ea typeface="Avenir Next"/>
                <a:cs typeface="Avenir Next"/>
              </a:defRPr>
            </a:pPr>
            <a:r>
              <a:rPr sz="1650" b="0" i="0">
                <a:solidFill>
                  <a:srgbClr val="D9D2C7"/>
                </a:solidFill>
                <a:latin typeface="Avenir Next"/>
                <a:ea typeface="Avenir Next"/>
                <a:cs typeface="Avenir Next"/>
              </a:rPr>
              <a:t>The pedal stripped the crank in Frankfurt. I rode one-footed to a station, took the train to Mainz, and found the part at shop number four.</a:t>
            </a:r>
          </a:p>
        </p:txBody>
      </p:sp>
      <p:sp>
        <p:nvSpPr>
          <p:cNvPr id="6" name="">
            <a:extLst xmlns:a="http://schemas.openxmlformats.org/drawingml/2006/main">
              <a:ext uri="{FF2B5EF4-FFF2-40B4-BE49-F238E27FC236}">
                <a16:creationId xmlns:a16="http://schemas.microsoft.com/office/drawing/2014/main" id="{C784B26F-CD96-470C-B146-8C4647FC2A39}"/>
              </a:ext>
            </a:extLst>
          </p:cNvPr>
          <p:cNvSpPr>
            <a:spLocks xmlns:a="http://schemas.openxmlformats.org/drawingml/2006/main" noGrp="1"/>
          </p:cNvSpPr>
          <p:nvPr/>
        </p:nvSpPr>
        <p:spPr>
          <a:xfrm xmlns:a="http://schemas.openxmlformats.org/drawingml/2006/main">
            <a:off x="647700" y="4857750"/>
            <a:ext cx="5810250" cy="0"/>
          </a:xfrm>
          <a:prstGeom xmlns:a="http://schemas.openxmlformats.org/drawingml/2006/main" prst="line">
            <a:avLst/>
          </a:prstGeom>
          <a:noFill xmlns:a="http://schemas.openxmlformats.org/drawingml/2006/main"/>
          <a:ln xmlns:a="http://schemas.openxmlformats.org/drawingml/2006/main" w="19050">
            <a:solidFill>
              <a:srgbClr val="5E5A50"/>
            </a:solidFill>
            <a:prstDash val="solid"/>
          </a:ln>
        </p:spPr>
      </p:sp>
      <p:sp>
        <p:nvSpPr>
          <p:cNvPr id="7" name="">
            <a:extLst xmlns:a="http://schemas.openxmlformats.org/drawingml/2006/main">
              <a:ext uri="{FF2B5EF4-FFF2-40B4-BE49-F238E27FC236}">
                <a16:creationId xmlns:a16="http://schemas.microsoft.com/office/drawing/2014/main" id="{03D621EE-D43A-472C-BD21-450750398BB8}"/>
              </a:ext>
            </a:extLst>
          </p:cNvPr>
          <p:cNvSpPr>
            <a:spLocks xmlns:a="http://schemas.openxmlformats.org/drawingml/2006/main" noGrp="1"/>
          </p:cNvSpPr>
          <p:nvPr/>
        </p:nvSpPr>
        <p:spPr>
          <a:xfrm xmlns:a="http://schemas.openxmlformats.org/drawingml/2006/main">
            <a:off x="647700" y="4743450"/>
            <a:ext cx="133350" cy="228600"/>
          </a:xfrm>
          <a:prstGeom xmlns:a="http://schemas.openxmlformats.org/drawingml/2006/main" prst="roundRect">
            <a:avLst>
              <a:gd name="adj" fmla="val 50000"/>
            </a:avLst>
          </a:prstGeom>
          <a:solidFill xmlns:a="http://schemas.openxmlformats.org/drawingml/2006/main">
            <a:srgbClr val="E26A2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F57220-346E-4C8C-803E-9407B5F581FD}"/>
              </a:ext>
            </a:extLst>
          </p:cNvPr>
          <p:cNvSpPr>
            <a:spLocks xmlns:a="http://schemas.openxmlformats.org/drawingml/2006/main" noGrp="1"/>
          </p:cNvSpPr>
          <p:nvPr/>
        </p:nvSpPr>
        <p:spPr>
          <a:xfrm xmlns:a="http://schemas.openxmlformats.org/drawingml/2006/main">
            <a:off x="6267450" y="4743450"/>
            <a:ext cx="133350" cy="228600"/>
          </a:xfrm>
          <a:prstGeom xmlns:a="http://schemas.openxmlformats.org/drawingml/2006/main" prst="roundRect">
            <a:avLst>
              <a:gd name="adj" fmla="val 50000"/>
            </a:avLst>
          </a:prstGeom>
          <a:solidFill xmlns:a="http://schemas.openxmlformats.org/drawingml/2006/main">
            <a:srgbClr val="E26A2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1E7E3A-B468-429D-85E4-DBB26035CEF5}"/>
              </a:ext>
            </a:extLst>
          </p:cNvPr>
          <p:cNvSpPr>
            <a:spLocks xmlns:a="http://schemas.openxmlformats.org/drawingml/2006/main" noGrp="1"/>
          </p:cNvSpPr>
          <p:nvPr/>
        </p:nvSpPr>
        <p:spPr>
          <a:xfrm xmlns:a="http://schemas.openxmlformats.org/drawingml/2006/main">
            <a:off x="647700" y="5124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08:00</a:t>
            </a:r>
          </a:p>
        </p:txBody>
      </p:sp>
      <p:sp>
        <p:nvSpPr>
          <p:cNvPr id="10" name="">
            <a:extLst xmlns:a="http://schemas.openxmlformats.org/drawingml/2006/main">
              <a:ext uri="{FF2B5EF4-FFF2-40B4-BE49-F238E27FC236}">
                <a16:creationId xmlns:a16="http://schemas.microsoft.com/office/drawing/2014/main" id="{2EE85CA0-4841-477C-8DC3-D03E9B438414}"/>
              </a:ext>
            </a:extLst>
          </p:cNvPr>
          <p:cNvSpPr>
            <a:spLocks xmlns:a="http://schemas.openxmlformats.org/drawingml/2006/main" noGrp="1"/>
          </p:cNvSpPr>
          <p:nvPr/>
        </p:nvSpPr>
        <p:spPr>
          <a:xfrm xmlns:a="http://schemas.openxmlformats.org/drawingml/2006/main">
            <a:off x="5410200" y="51244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20:25</a:t>
            </a:r>
          </a:p>
        </p:txBody>
      </p:sp>
      <p:sp>
        <p:nvSpPr>
          <p:cNvPr id="11" name="">
            <a:extLst xmlns:a="http://schemas.openxmlformats.org/drawingml/2006/main">
              <a:ext uri="{FF2B5EF4-FFF2-40B4-BE49-F238E27FC236}">
                <a16:creationId xmlns:a16="http://schemas.microsoft.com/office/drawing/2014/main" id="{63AE698C-4CFE-4342-8354-20D59509ABCC}"/>
              </a:ext>
            </a:extLst>
          </p:cNvPr>
          <p:cNvSpPr>
            <a:spLocks xmlns:a="http://schemas.openxmlformats.org/drawingml/2006/main" noGrp="1"/>
          </p:cNvSpPr>
          <p:nvPr/>
        </p:nvSpPr>
        <p:spPr>
          <a:xfrm xmlns:a="http://schemas.openxmlformats.org/drawingml/2006/main">
            <a:off x="1676400" y="509587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200" b="1" i="0">
                <a:solidFill>
                  <a:srgbClr val="FCF8F1"/>
                </a:solidFill>
                <a:latin typeface="Avenir Next"/>
                <a:ea typeface="Avenir Next"/>
                <a:cs typeface="Avenir Next"/>
              </a:defRPr>
            </a:pPr>
            <a:r>
              <a:rPr sz="1200" b="1" i="0">
                <a:solidFill>
                  <a:srgbClr val="FCF8F1"/>
                </a:solidFill>
                <a:latin typeface="Avenir Next"/>
                <a:ea typeface="Avenir Next"/>
                <a:cs typeface="Avenir Next"/>
              </a:rPr>
              <a:t>THE CAMERA GOES SILENT FOR 12 HOURS</a:t>
            </a:r>
          </a:p>
        </p:txBody>
      </p:sp>
      <p:sp>
        <p:nvSpPr>
          <p:cNvPr id="12" name="">
            <a:extLst xmlns:a="http://schemas.openxmlformats.org/drawingml/2006/main">
              <a:ext uri="{FF2B5EF4-FFF2-40B4-BE49-F238E27FC236}">
                <a16:creationId xmlns:a16="http://schemas.microsoft.com/office/drawing/2014/main" id="{CE170928-950A-4D54-AC64-30FF5ABD9C72}"/>
              </a:ext>
            </a:extLst>
          </p:cNvPr>
          <p:cNvSpPr>
            <a:spLocks xmlns:a="http://schemas.openxmlformats.org/drawingml/2006/main" noGrp="1"/>
          </p:cNvSpPr>
          <p:nvPr/>
        </p:nvSpPr>
        <p:spPr>
          <a:xfrm xmlns:a="http://schemas.openxmlformats.org/drawingml/2006/main">
            <a:off x="647700" y="58483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0" i="0">
                <a:solidFill>
                  <a:srgbClr val="938D82"/>
                </a:solidFill>
                <a:latin typeface="Avenir Next"/>
                <a:ea typeface="Avenir Next"/>
                <a:cs typeface="Avenir Next"/>
              </a:defRPr>
            </a:pPr>
            <a:r>
              <a:rPr sz="1275" b="0" i="0">
                <a:solidFill>
                  <a:srgbClr val="938D82"/>
                </a:solidFill>
                <a:latin typeface="Avenir Next"/>
                <a:ea typeface="Avenir Next"/>
                <a:cs typeface="Avenir Next"/>
              </a:rPr>
              <a:t>22:00 / Karlsruhe / chocolate milk described as heaven</a:t>
            </a:r>
          </a:p>
        </p:txBody>
      </p:sp>
    </p:spTree>
    <p:extLst>
      <p:ext uri="{BB962C8B-B14F-4D97-AF65-F5344CB8AC3E}">
        <p14:creationId xmlns:p14="http://schemas.microsoft.com/office/powerpoint/2010/main" val="2100635292"/>
      </p:ext>
    </p:extLst>
  </p:cSld>
</p:sld>
</file>

<file path=ppt/slides/slide6.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0E3C87-EC25-4F17-A555-9FBF8EDA73E8}"/>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25–27 JUNE / RIDES 2–4</a:t>
            </a:r>
          </a:p>
        </p:txBody>
      </p:sp>
      <p:sp>
        <p:nvSpPr>
          <p:cNvPr id="2" name="">
            <a:extLst xmlns:a="http://schemas.openxmlformats.org/drawingml/2006/main">
              <a:ext uri="{FF2B5EF4-FFF2-40B4-BE49-F238E27FC236}">
                <a16:creationId xmlns:a16="http://schemas.microsoft.com/office/drawing/2014/main" id="{62B3DAC6-6F43-4A37-81D0-2D30CDEA3451}"/>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638.18 KM IN 3 DAYS</a:t>
            </a:r>
          </a:p>
        </p:txBody>
      </p:sp>
      <p:sp>
        <p:nvSpPr>
          <p:cNvPr id="3" name="">
            <a:extLst xmlns:a="http://schemas.openxmlformats.org/drawingml/2006/main">
              <a:ext uri="{FF2B5EF4-FFF2-40B4-BE49-F238E27FC236}">
                <a16:creationId xmlns:a16="http://schemas.microsoft.com/office/drawing/2014/main" id="{8E4991D8-A15B-42EF-9039-47657F69B7BF}"/>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EFFAA96D-D089-4CC7-83F7-933E1EBE54AC}"/>
              </a:ext>
            </a:extLst>
          </p:cNvPr>
          <p:cNvSpPr>
            <a:spLocks xmlns:a="http://schemas.openxmlformats.org/drawingml/2006/main" noGrp="1"/>
          </p:cNvSpPr>
          <p:nvPr/>
        </p:nvSpPr>
        <p:spPr>
          <a:xfrm xmlns:a="http://schemas.openxmlformats.org/drawingml/2006/main">
            <a:off x="609600" y="876300"/>
            <a:ext cx="876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HEAT, BORDERS, AND A DEAD PHONE</a:t>
            </a:r>
          </a:p>
        </p:txBody>
      </p:sp>
      <p:sp>
        <p:nvSpPr>
          <p:cNvPr id="5" name="">
            <a:extLst xmlns:a="http://schemas.openxmlformats.org/drawingml/2006/main">
              <a:ext uri="{FF2B5EF4-FFF2-40B4-BE49-F238E27FC236}">
                <a16:creationId xmlns:a16="http://schemas.microsoft.com/office/drawing/2014/main" id="{59565734-D408-4DA5-BEF0-7439E13BEBE3}"/>
              </a:ext>
            </a:extLst>
          </p:cNvPr>
          <p:cNvSpPr>
            <a:spLocks xmlns:a="http://schemas.openxmlformats.org/drawingml/2006/main" noGrp="1"/>
          </p:cNvSpPr>
          <p:nvPr/>
        </p:nvSpPr>
        <p:spPr>
          <a:xfrm xmlns:a="http://schemas.openxmlformats.org/drawingml/2006/main">
            <a:off x="609600" y="1733550"/>
            <a:ext cx="3352800" cy="4095750"/>
          </a:xfrm>
          <a:prstGeom xmlns:a="http://schemas.openxmlformats.org/drawingml/2006/main" prst="roundRect">
            <a:avLst>
              <a:gd name="adj" fmla="val 3977"/>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5d0b8128463474f"/>
          <a:srcRect xmlns:a="http://schemas.openxmlformats.org/drawingml/2006/main" l="0" t="24219" r="0" b="24219"/>
          <a:stretch xmlns:a="http://schemas.openxmlformats.org/drawingml/2006/main">
            <a:fillRect l="0" t="0" r="0" b="0"/>
          </a:stretch>
        </p:blipFill>
        <p:spPr>
          <a:xfrm xmlns:a="http://schemas.openxmlformats.org/drawingml/2006/main">
            <a:off x="609600" y="1733550"/>
            <a:ext cx="3352800" cy="2305050"/>
          </a:xfrm>
          <a:prstGeom xmlns:a="http://schemas.openxmlformats.org/drawingml/2006/main" prst="roundRect">
            <a:avLst>
              <a:gd name="adj" fmla="val 5785"/>
            </a:avLst>
          </a:prstGeom>
        </p:spPr>
      </p:pic>
      <p:sp>
        <p:nvSpPr>
          <p:cNvPr id="7" name="">
            <a:extLst xmlns:a="http://schemas.openxmlformats.org/drawingml/2006/main">
              <a:ext uri="{FF2B5EF4-FFF2-40B4-BE49-F238E27FC236}">
                <a16:creationId xmlns:a16="http://schemas.microsoft.com/office/drawing/2014/main" id="{7438FAB9-E562-4D38-BC11-090CBF07CC87}"/>
              </a:ext>
            </a:extLst>
          </p:cNvPr>
          <p:cNvSpPr>
            <a:spLocks xmlns:a="http://schemas.openxmlformats.org/drawingml/2006/main" noGrp="1"/>
          </p:cNvSpPr>
          <p:nvPr/>
        </p:nvSpPr>
        <p:spPr>
          <a:xfrm xmlns:a="http://schemas.openxmlformats.org/drawingml/2006/main">
            <a:off x="819150" y="42672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25 JUN</a:t>
            </a:r>
          </a:p>
        </p:txBody>
      </p:sp>
      <p:sp>
        <p:nvSpPr>
          <p:cNvPr id="8" name="">
            <a:extLst xmlns:a="http://schemas.openxmlformats.org/drawingml/2006/main">
              <a:ext uri="{FF2B5EF4-FFF2-40B4-BE49-F238E27FC236}">
                <a16:creationId xmlns:a16="http://schemas.microsoft.com/office/drawing/2014/main" id="{BDADE374-446D-4E48-BDF6-9CB3B3A752A5}"/>
              </a:ext>
            </a:extLst>
          </p:cNvPr>
          <p:cNvSpPr>
            <a:spLocks xmlns:a="http://schemas.openxmlformats.org/drawingml/2006/main" noGrp="1"/>
          </p:cNvSpPr>
          <p:nvPr/>
        </p:nvSpPr>
        <p:spPr>
          <a:xfrm xmlns:a="http://schemas.openxmlformats.org/drawingml/2006/main">
            <a:off x="2228850" y="419100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950" b="1" i="0">
                <a:solidFill>
                  <a:srgbClr val="1B1A16"/>
                </a:solidFill>
                <a:latin typeface="DIN Condensed"/>
                <a:ea typeface="DIN Condensed"/>
                <a:cs typeface="DIN Condensed"/>
              </a:defRPr>
            </a:pPr>
            <a:r>
              <a:rPr sz="1950" b="1" i="0">
                <a:solidFill>
                  <a:srgbClr val="1B1A16"/>
                </a:solidFill>
                <a:latin typeface="DIN Condensed"/>
                <a:ea typeface="DIN Condensed"/>
                <a:cs typeface="DIN Condensed"/>
              </a:rPr>
              <a:t>157.57 KM</a:t>
            </a:r>
          </a:p>
        </p:txBody>
      </p:sp>
      <p:sp>
        <p:nvSpPr>
          <p:cNvPr id="9" name="">
            <a:extLst xmlns:a="http://schemas.openxmlformats.org/drawingml/2006/main">
              <a:ext uri="{FF2B5EF4-FFF2-40B4-BE49-F238E27FC236}">
                <a16:creationId xmlns:a16="http://schemas.microsoft.com/office/drawing/2014/main" id="{EB5C554D-4A1D-4197-AA0D-452E29CE828D}"/>
              </a:ext>
            </a:extLst>
          </p:cNvPr>
          <p:cNvSpPr>
            <a:spLocks xmlns:a="http://schemas.openxmlformats.org/drawingml/2006/main" noGrp="1"/>
          </p:cNvSpPr>
          <p:nvPr/>
        </p:nvSpPr>
        <p:spPr>
          <a:xfrm xmlns:a="http://schemas.openxmlformats.org/drawingml/2006/main">
            <a:off x="819150" y="4724400"/>
            <a:ext cx="293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UP TO 42°C</a:t>
            </a:r>
          </a:p>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RHINE → ALSACE</a:t>
            </a:r>
          </a:p>
        </p:txBody>
      </p:sp>
      <p:sp>
        <p:nvSpPr>
          <p:cNvPr id="10" name="">
            <a:extLst xmlns:a="http://schemas.openxmlformats.org/drawingml/2006/main">
              <a:ext uri="{FF2B5EF4-FFF2-40B4-BE49-F238E27FC236}">
                <a16:creationId xmlns:a16="http://schemas.microsoft.com/office/drawing/2014/main" id="{31FF4575-1262-4FCD-90AF-27577730EEE4}"/>
              </a:ext>
            </a:extLst>
          </p:cNvPr>
          <p:cNvSpPr>
            <a:spLocks xmlns:a="http://schemas.openxmlformats.org/drawingml/2006/main" noGrp="1"/>
          </p:cNvSpPr>
          <p:nvPr/>
        </p:nvSpPr>
        <p:spPr>
          <a:xfrm xmlns:a="http://schemas.openxmlformats.org/drawingml/2006/main">
            <a:off x="4267200" y="1733550"/>
            <a:ext cx="3352800" cy="4095750"/>
          </a:xfrm>
          <a:prstGeom xmlns:a="http://schemas.openxmlformats.org/drawingml/2006/main" prst="roundRect">
            <a:avLst>
              <a:gd name="adj" fmla="val 3977"/>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d1bb746895c45df"/>
          <a:srcRect xmlns:a="http://schemas.openxmlformats.org/drawingml/2006/main" l="0" t="4167" r="0" b="4167"/>
          <a:stretch xmlns:a="http://schemas.openxmlformats.org/drawingml/2006/main">
            <a:fillRect l="0" t="0" r="0" b="0"/>
          </a:stretch>
        </p:blipFill>
        <p:spPr>
          <a:xfrm xmlns:a="http://schemas.openxmlformats.org/drawingml/2006/main">
            <a:off x="4267200" y="1733550"/>
            <a:ext cx="3352800" cy="2305050"/>
          </a:xfrm>
          <a:prstGeom xmlns:a="http://schemas.openxmlformats.org/drawingml/2006/main" prst="roundRect">
            <a:avLst>
              <a:gd name="adj" fmla="val 5785"/>
            </a:avLst>
          </a:prstGeom>
        </p:spPr>
      </p:pic>
      <p:sp>
        <p:nvSpPr>
          <p:cNvPr id="12" name="">
            <a:extLst xmlns:a="http://schemas.openxmlformats.org/drawingml/2006/main">
              <a:ext uri="{FF2B5EF4-FFF2-40B4-BE49-F238E27FC236}">
                <a16:creationId xmlns:a16="http://schemas.microsoft.com/office/drawing/2014/main" id="{74329F28-2B5C-4986-8CC4-ED08CD61B3AE}"/>
              </a:ext>
            </a:extLst>
          </p:cNvPr>
          <p:cNvSpPr>
            <a:spLocks xmlns:a="http://schemas.openxmlformats.org/drawingml/2006/main" noGrp="1"/>
          </p:cNvSpPr>
          <p:nvPr/>
        </p:nvSpPr>
        <p:spPr>
          <a:xfrm xmlns:a="http://schemas.openxmlformats.org/drawingml/2006/main">
            <a:off x="4476750" y="42672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26 JUN</a:t>
            </a:r>
          </a:p>
        </p:txBody>
      </p:sp>
      <p:sp>
        <p:nvSpPr>
          <p:cNvPr id="13" name="">
            <a:extLst xmlns:a="http://schemas.openxmlformats.org/drawingml/2006/main">
              <a:ext uri="{FF2B5EF4-FFF2-40B4-BE49-F238E27FC236}">
                <a16:creationId xmlns:a16="http://schemas.microsoft.com/office/drawing/2014/main" id="{2E05785F-48A3-4C09-90A3-E05544B92116}"/>
              </a:ext>
            </a:extLst>
          </p:cNvPr>
          <p:cNvSpPr>
            <a:spLocks xmlns:a="http://schemas.openxmlformats.org/drawingml/2006/main" noGrp="1"/>
          </p:cNvSpPr>
          <p:nvPr/>
        </p:nvSpPr>
        <p:spPr>
          <a:xfrm xmlns:a="http://schemas.openxmlformats.org/drawingml/2006/main">
            <a:off x="5886450" y="419100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950" b="1" i="0">
                <a:solidFill>
                  <a:srgbClr val="1B1A16"/>
                </a:solidFill>
                <a:latin typeface="DIN Condensed"/>
                <a:ea typeface="DIN Condensed"/>
                <a:cs typeface="DIN Condensed"/>
              </a:defRPr>
            </a:pPr>
            <a:r>
              <a:rPr sz="1950" b="1" i="0">
                <a:solidFill>
                  <a:srgbClr val="1B1A16"/>
                </a:solidFill>
                <a:latin typeface="DIN Condensed"/>
                <a:ea typeface="DIN Condensed"/>
                <a:cs typeface="DIN Condensed"/>
              </a:rPr>
              <a:t>202.55 KM</a:t>
            </a:r>
          </a:p>
        </p:txBody>
      </p:sp>
      <p:sp>
        <p:nvSpPr>
          <p:cNvPr id="14" name="">
            <a:extLst xmlns:a="http://schemas.openxmlformats.org/drawingml/2006/main">
              <a:ext uri="{FF2B5EF4-FFF2-40B4-BE49-F238E27FC236}">
                <a16:creationId xmlns:a16="http://schemas.microsoft.com/office/drawing/2014/main" id="{2DC8617D-DE39-44E2-B58C-DD38CEC837B8}"/>
              </a:ext>
            </a:extLst>
          </p:cNvPr>
          <p:cNvSpPr>
            <a:spLocks xmlns:a="http://schemas.openxmlformats.org/drawingml/2006/main" noGrp="1"/>
          </p:cNvSpPr>
          <p:nvPr/>
        </p:nvSpPr>
        <p:spPr>
          <a:xfrm xmlns:a="http://schemas.openxmlformats.org/drawingml/2006/main">
            <a:off x="4476750" y="4724400"/>
            <a:ext cx="293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TRI-BORDER</a:t>
            </a:r>
          </a:p>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PASSPORT ALMOST LOST</a:t>
            </a:r>
          </a:p>
        </p:txBody>
      </p:sp>
      <p:sp>
        <p:nvSpPr>
          <p:cNvPr id="15" name="">
            <a:extLst xmlns:a="http://schemas.openxmlformats.org/drawingml/2006/main">
              <a:ext uri="{FF2B5EF4-FFF2-40B4-BE49-F238E27FC236}">
                <a16:creationId xmlns:a16="http://schemas.microsoft.com/office/drawing/2014/main" id="{5C4C9670-AD2F-40F6-BE5E-C2BDC6A8BAE8}"/>
              </a:ext>
            </a:extLst>
          </p:cNvPr>
          <p:cNvSpPr>
            <a:spLocks xmlns:a="http://schemas.openxmlformats.org/drawingml/2006/main" noGrp="1"/>
          </p:cNvSpPr>
          <p:nvPr/>
        </p:nvSpPr>
        <p:spPr>
          <a:xfrm xmlns:a="http://schemas.openxmlformats.org/drawingml/2006/main">
            <a:off x="7924800" y="1733550"/>
            <a:ext cx="3352800" cy="4095750"/>
          </a:xfrm>
          <a:prstGeom xmlns:a="http://schemas.openxmlformats.org/drawingml/2006/main" prst="roundRect">
            <a:avLst>
              <a:gd name="adj" fmla="val 3977"/>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176d906a688a4af1"/>
          <a:srcRect xmlns:a="http://schemas.openxmlformats.org/drawingml/2006/main" l="0" t="4167" r="0" b="4167"/>
          <a:stretch xmlns:a="http://schemas.openxmlformats.org/drawingml/2006/main">
            <a:fillRect l="0" t="0" r="0" b="0"/>
          </a:stretch>
        </p:blipFill>
        <p:spPr>
          <a:xfrm xmlns:a="http://schemas.openxmlformats.org/drawingml/2006/main">
            <a:off x="7924800" y="1733550"/>
            <a:ext cx="3352800" cy="2305050"/>
          </a:xfrm>
          <a:prstGeom xmlns:a="http://schemas.openxmlformats.org/drawingml/2006/main" prst="roundRect">
            <a:avLst>
              <a:gd name="adj" fmla="val 5785"/>
            </a:avLst>
          </a:prstGeom>
        </p:spPr>
      </p:pic>
      <p:sp>
        <p:nvSpPr>
          <p:cNvPr id="17" name="">
            <a:extLst xmlns:a="http://schemas.openxmlformats.org/drawingml/2006/main">
              <a:ext uri="{FF2B5EF4-FFF2-40B4-BE49-F238E27FC236}">
                <a16:creationId xmlns:a16="http://schemas.microsoft.com/office/drawing/2014/main" id="{63393900-65EB-4025-A6BA-3B4D22947B11}"/>
              </a:ext>
            </a:extLst>
          </p:cNvPr>
          <p:cNvSpPr>
            <a:spLocks xmlns:a="http://schemas.openxmlformats.org/drawingml/2006/main" noGrp="1"/>
          </p:cNvSpPr>
          <p:nvPr/>
        </p:nvSpPr>
        <p:spPr>
          <a:xfrm xmlns:a="http://schemas.openxmlformats.org/drawingml/2006/main">
            <a:off x="8134350" y="42672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27 JUN</a:t>
            </a:r>
          </a:p>
        </p:txBody>
      </p:sp>
      <p:sp>
        <p:nvSpPr>
          <p:cNvPr id="18" name="">
            <a:extLst xmlns:a="http://schemas.openxmlformats.org/drawingml/2006/main">
              <a:ext uri="{FF2B5EF4-FFF2-40B4-BE49-F238E27FC236}">
                <a16:creationId xmlns:a16="http://schemas.microsoft.com/office/drawing/2014/main" id="{C78D886E-5436-4925-AAA8-F23D9DAC5EAF}"/>
              </a:ext>
            </a:extLst>
          </p:cNvPr>
          <p:cNvSpPr>
            <a:spLocks xmlns:a="http://schemas.openxmlformats.org/drawingml/2006/main" noGrp="1"/>
          </p:cNvSpPr>
          <p:nvPr/>
        </p:nvSpPr>
        <p:spPr>
          <a:xfrm xmlns:a="http://schemas.openxmlformats.org/drawingml/2006/main">
            <a:off x="9544050" y="419100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950" b="1" i="0">
                <a:solidFill>
                  <a:srgbClr val="1B1A16"/>
                </a:solidFill>
                <a:latin typeface="DIN Condensed"/>
                <a:ea typeface="DIN Condensed"/>
                <a:cs typeface="DIN Condensed"/>
              </a:defRPr>
            </a:pPr>
            <a:r>
              <a:rPr sz="1950" b="1" i="0">
                <a:solidFill>
                  <a:srgbClr val="1B1A16"/>
                </a:solidFill>
                <a:latin typeface="DIN Condensed"/>
                <a:ea typeface="DIN Condensed"/>
                <a:cs typeface="DIN Condensed"/>
              </a:rPr>
              <a:t>278.06 KM</a:t>
            </a:r>
          </a:p>
        </p:txBody>
      </p:sp>
      <p:sp>
        <p:nvSpPr>
          <p:cNvPr id="19" name="">
            <a:extLst xmlns:a="http://schemas.openxmlformats.org/drawingml/2006/main">
              <a:ext uri="{FF2B5EF4-FFF2-40B4-BE49-F238E27FC236}">
                <a16:creationId xmlns:a16="http://schemas.microsoft.com/office/drawing/2014/main" id="{CEA1FB6F-34F5-40DB-8C17-12698518DF01}"/>
              </a:ext>
            </a:extLst>
          </p:cNvPr>
          <p:cNvSpPr>
            <a:spLocks xmlns:a="http://schemas.openxmlformats.org/drawingml/2006/main" noGrp="1"/>
          </p:cNvSpPr>
          <p:nvPr/>
        </p:nvSpPr>
        <p:spPr>
          <a:xfrm xmlns:a="http://schemas.openxmlformats.org/drawingml/2006/main">
            <a:off x="8134350" y="4724400"/>
            <a:ext cx="293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4 COUNTRIES</a:t>
            </a:r>
          </a:p>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THUNDERSTORM</a:t>
            </a:r>
          </a:p>
        </p:txBody>
      </p:sp>
      <p:sp>
        <p:nvSpPr>
          <p:cNvPr id="20" name="">
            <a:extLst xmlns:a="http://schemas.openxmlformats.org/drawingml/2006/main">
              <a:ext uri="{FF2B5EF4-FFF2-40B4-BE49-F238E27FC236}">
                <a16:creationId xmlns:a16="http://schemas.microsoft.com/office/drawing/2014/main" id="{652B5F4A-EB0C-426D-BEDB-EDBDCE509C53}"/>
              </a:ext>
            </a:extLst>
          </p:cNvPr>
          <p:cNvSpPr>
            <a:spLocks xmlns:a="http://schemas.openxmlformats.org/drawingml/2006/main" noGrp="1"/>
          </p:cNvSpPr>
          <p:nvPr/>
        </p:nvSpPr>
        <p:spPr>
          <a:xfrm xmlns:a="http://schemas.openxmlformats.org/drawingml/2006/main">
            <a:off x="609600" y="60769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275" b="1" i="0">
                <a:solidFill>
                  <a:srgbClr val="6F695F"/>
                </a:solidFill>
                <a:latin typeface="Avenir Next"/>
                <a:ea typeface="Avenir Next"/>
                <a:cs typeface="Avenir Next"/>
              </a:defRPr>
            </a:pPr>
            <a:r>
              <a:rPr sz="1275" b="1" i="0">
                <a:solidFill>
                  <a:srgbClr val="6F695F"/>
                </a:solidFill>
                <a:latin typeface="Avenir Next"/>
                <a:ea typeface="Avenir Next"/>
                <a:cs typeface="Avenir Next"/>
              </a:rPr>
              <a:t>GERMANY → FRANCE → SWITZERLAND → AUSTRIA → LIECHTENSTEIN</a:t>
            </a:r>
          </a:p>
        </p:txBody>
      </p:sp>
      <p:sp>
        <p:nvSpPr>
          <p:cNvPr id="21" name="">
            <a:extLst xmlns:a="http://schemas.openxmlformats.org/drawingml/2006/main">
              <a:ext uri="{FF2B5EF4-FFF2-40B4-BE49-F238E27FC236}">
                <a16:creationId xmlns:a16="http://schemas.microsoft.com/office/drawing/2014/main" id="{B4946613-F962-438B-9BD8-56891D7D4666}"/>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22" name="">
            <a:extLst xmlns:a="http://schemas.openxmlformats.org/drawingml/2006/main">
              <a:ext uri="{FF2B5EF4-FFF2-40B4-BE49-F238E27FC236}">
                <a16:creationId xmlns:a16="http://schemas.microsoft.com/office/drawing/2014/main" id="{80D13882-1BA8-4A00-948F-F40BA7B19BA7}"/>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06</a:t>
            </a:r>
          </a:p>
        </p:txBody>
      </p:sp>
    </p:spTree>
    <p:extLst>
      <p:ext uri="{BB962C8B-B14F-4D97-AF65-F5344CB8AC3E}">
        <p14:creationId xmlns:p14="http://schemas.microsoft.com/office/powerpoint/2010/main" val="501313538"/>
      </p:ext>
    </p:extLst>
  </p:cSld>
</p:sld>
</file>

<file path=ppt/slides/slide7.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1039630c3244e3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726FDD-6B44-4E6B-84E4-25ED6433D61A}"/>
              </a:ext>
            </a:extLst>
          </p:cNvPr>
          <p:cNvSpPr>
            <a:spLocks xmlns:a="http://schemas.openxmlformats.org/drawingml/2006/main" noGrp="1"/>
          </p:cNvSpPr>
          <p:nvPr/>
        </p:nvSpPr>
        <p:spPr>
          <a:xfrm xmlns:a="http://schemas.openxmlformats.org/drawingml/2006/main">
            <a:off x="0" y="0"/>
            <a:ext cx="539115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775AAA-0391-415F-B590-77BDC3A602FB}"/>
              </a:ext>
            </a:extLst>
          </p:cNvPr>
          <p:cNvSpPr>
            <a:spLocks xmlns:a="http://schemas.openxmlformats.org/drawingml/2006/main" noGrp="1"/>
          </p:cNvSpPr>
          <p:nvPr/>
        </p:nvSpPr>
        <p:spPr>
          <a:xfrm xmlns:a="http://schemas.openxmlformats.org/drawingml/2006/main">
            <a:off x="5391150" y="0"/>
            <a:ext cx="114300" cy="6858000"/>
          </a:xfrm>
          <a:prstGeom xmlns:a="http://schemas.openxmlformats.org/drawingml/2006/main" prst="rect">
            <a:avLst/>
          </a:prstGeom>
          <a:solidFill xmlns:a="http://schemas.openxmlformats.org/drawingml/2006/main">
            <a:srgbClr val="E26A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1B7A1B-B92C-47DD-8EE3-5AB0B627BA36}"/>
              </a:ext>
            </a:extLst>
          </p:cNvPr>
          <p:cNvSpPr>
            <a:spLocks xmlns:a="http://schemas.openxmlformats.org/drawingml/2006/main" noGrp="1"/>
          </p:cNvSpPr>
          <p:nvPr/>
        </p:nvSpPr>
        <p:spPr>
          <a:xfrm xmlns:a="http://schemas.openxmlformats.org/drawingml/2006/main">
            <a:off x="590550" y="4572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29 JUN / RIDE 5 / 135.60 KM</a:t>
            </a:r>
          </a:p>
        </p:txBody>
      </p:sp>
      <p:sp>
        <p:nvSpPr>
          <p:cNvPr id="5" name="">
            <a:extLst xmlns:a="http://schemas.openxmlformats.org/drawingml/2006/main">
              <a:ext uri="{FF2B5EF4-FFF2-40B4-BE49-F238E27FC236}">
                <a16:creationId xmlns:a16="http://schemas.microsoft.com/office/drawing/2014/main" id="{57BDAC1B-A7A6-4C40-8D3F-6D51B01406BB}"/>
              </a:ext>
            </a:extLst>
          </p:cNvPr>
          <p:cNvSpPr>
            <a:spLocks xmlns:a="http://schemas.openxmlformats.org/drawingml/2006/main" noGrp="1"/>
          </p:cNvSpPr>
          <p:nvPr/>
        </p:nvSpPr>
        <p:spPr>
          <a:xfrm xmlns:a="http://schemas.openxmlformats.org/drawingml/2006/main">
            <a:off x="590550" y="1066800"/>
            <a:ext cx="4095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2000"/>
              </a:lnSpc>
              <a:buNone/>
              <a:defRPr sz="5400" b="1" i="0">
                <a:solidFill>
                  <a:srgbClr val="FCF8F1"/>
                </a:solidFill>
                <a:latin typeface="DIN Condensed"/>
                <a:ea typeface="DIN Condensed"/>
                <a:cs typeface="DIN Condensed"/>
              </a:defRPr>
            </a:pPr>
            <a:r>
              <a:rPr sz="5400" b="1" i="0">
                <a:solidFill>
                  <a:srgbClr val="FCF8F1"/>
                </a:solidFill>
                <a:latin typeface="DIN Condensed"/>
                <a:ea typeface="DIN Condensed"/>
                <a:cs typeface="DIN Condensed"/>
              </a:rPr>
              <a:t>FURKA</a:t>
            </a:r>
          </a:p>
          <a:p xmlns:a="http://schemas.openxmlformats.org/drawingml/2006/main">
            <a:pPr algn="l">
              <a:lnSpc>
                <a:spcPct val="82000"/>
              </a:lnSpc>
              <a:buNone/>
              <a:defRPr sz="5400" b="1" i="0">
                <a:solidFill>
                  <a:srgbClr val="FCF8F1"/>
                </a:solidFill>
                <a:latin typeface="DIN Condensed"/>
                <a:ea typeface="DIN Condensed"/>
                <a:cs typeface="DIN Condensed"/>
              </a:defRPr>
            </a:pPr>
            <a:r>
              <a:rPr sz="5400" b="1" i="0">
                <a:solidFill>
                  <a:srgbClr val="FCF8F1"/>
                </a:solidFill>
                <a:latin typeface="DIN Condensed"/>
                <a:ea typeface="DIN Condensed"/>
                <a:cs typeface="DIN Condensed"/>
              </a:rPr>
              <a:t>2,436 M</a:t>
            </a:r>
          </a:p>
        </p:txBody>
      </p:sp>
      <p:sp>
        <p:nvSpPr>
          <p:cNvPr id="6" name="">
            <a:extLst xmlns:a="http://schemas.openxmlformats.org/drawingml/2006/main">
              <a:ext uri="{FF2B5EF4-FFF2-40B4-BE49-F238E27FC236}">
                <a16:creationId xmlns:a16="http://schemas.microsoft.com/office/drawing/2014/main" id="{797BF882-A7DA-4096-A94B-59B87951DB76}"/>
              </a:ext>
            </a:extLst>
          </p:cNvPr>
          <p:cNvSpPr>
            <a:spLocks xmlns:a="http://schemas.openxmlformats.org/drawingml/2006/main" noGrp="1"/>
          </p:cNvSpPr>
          <p:nvPr/>
        </p:nvSpPr>
        <p:spPr>
          <a:xfrm xmlns:a="http://schemas.openxmlformats.org/drawingml/2006/main">
            <a:off x="590550" y="318135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0" i="0">
                <a:solidFill>
                  <a:srgbClr val="D9D2C7"/>
                </a:solidFill>
                <a:latin typeface="Avenir Next"/>
                <a:ea typeface="Avenir Next"/>
                <a:cs typeface="Avenir Next"/>
              </a:defRPr>
            </a:pPr>
            <a:r>
              <a:rPr sz="1650" b="0" i="0">
                <a:solidFill>
                  <a:srgbClr val="D9D2C7"/>
                </a:solidFill>
                <a:latin typeface="Avenir Next"/>
                <a:ea typeface="Avenir Next"/>
                <a:cs typeface="Avenir Next"/>
              </a:rPr>
              <a:t>The rest day before it was not recovery. It was Sunday, everything was closed, and I was stranded in Danis with a dead phone.</a:t>
            </a:r>
          </a:p>
        </p:txBody>
      </p:sp>
      <p:sp>
        <p:nvSpPr>
          <p:cNvPr id="7" name="">
            <a:extLst xmlns:a="http://schemas.openxmlformats.org/drawingml/2006/main">
              <a:ext uri="{FF2B5EF4-FFF2-40B4-BE49-F238E27FC236}">
                <a16:creationId xmlns:a16="http://schemas.microsoft.com/office/drawing/2014/main" id="{430F7019-595C-433A-9644-7A57743F4699}"/>
              </a:ext>
            </a:extLst>
          </p:cNvPr>
          <p:cNvSpPr>
            <a:spLocks xmlns:a="http://schemas.openxmlformats.org/drawingml/2006/main" noGrp="1"/>
          </p:cNvSpPr>
          <p:nvPr/>
        </p:nvSpPr>
        <p:spPr>
          <a:xfrm xmlns:a="http://schemas.openxmlformats.org/drawingml/2006/main">
            <a:off x="590550" y="4743450"/>
            <a:ext cx="762000" cy="0"/>
          </a:xfrm>
          <a:prstGeom xmlns:a="http://schemas.openxmlformats.org/drawingml/2006/main" prst="line">
            <a:avLst/>
          </a:prstGeom>
          <a:noFill xmlns:a="http://schemas.openxmlformats.org/drawingml/2006/main"/>
          <a:ln xmlns:a="http://schemas.openxmlformats.org/drawingml/2006/main" w="47625">
            <a:solidFill>
              <a:srgbClr val="E26A2C"/>
            </a:solidFill>
            <a:prstDash val="solid"/>
          </a:ln>
        </p:spPr>
      </p:sp>
      <p:sp>
        <p:nvSpPr>
          <p:cNvPr id="8" name="">
            <a:extLst xmlns:a="http://schemas.openxmlformats.org/drawingml/2006/main">
              <a:ext uri="{FF2B5EF4-FFF2-40B4-BE49-F238E27FC236}">
                <a16:creationId xmlns:a16="http://schemas.microsoft.com/office/drawing/2014/main" id="{9EB8305E-1F1A-41CD-AD31-C34AE5806304}"/>
              </a:ext>
            </a:extLst>
          </p:cNvPr>
          <p:cNvSpPr>
            <a:spLocks xmlns:a="http://schemas.openxmlformats.org/drawingml/2006/main" noGrp="1"/>
          </p:cNvSpPr>
          <p:nvPr/>
        </p:nvSpPr>
        <p:spPr>
          <a:xfrm xmlns:a="http://schemas.openxmlformats.org/drawingml/2006/main">
            <a:off x="590550" y="501015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00" b="1" i="0">
                <a:solidFill>
                  <a:srgbClr val="FCF8F1"/>
                </a:solidFill>
                <a:latin typeface="Avenir Next"/>
                <a:ea typeface="Avenir Next"/>
                <a:cs typeface="Avenir Next"/>
              </a:defRPr>
            </a:pPr>
            <a:r>
              <a:rPr sz="1800" b="1" i="0">
                <a:solidFill>
                  <a:srgbClr val="FCF8F1"/>
                </a:solidFill>
                <a:latin typeface="Avenir Next"/>
                <a:ea typeface="Avenir Next"/>
                <a:cs typeface="Avenir Next"/>
              </a:rPr>
              <a:t>Oberalp first. Then 13 km and 890 m up Furka.</a:t>
            </a:r>
          </a:p>
        </p:txBody>
      </p:sp>
      <p:sp>
        <p:nvSpPr>
          <p:cNvPr id="9" name="">
            <a:extLst xmlns:a="http://schemas.openxmlformats.org/drawingml/2006/main">
              <a:ext uri="{FF2B5EF4-FFF2-40B4-BE49-F238E27FC236}">
                <a16:creationId xmlns:a16="http://schemas.microsoft.com/office/drawing/2014/main" id="{7CF0AFAF-1E4A-40CE-96A5-AFB7163928BA}"/>
              </a:ext>
            </a:extLst>
          </p:cNvPr>
          <p:cNvSpPr>
            <a:spLocks xmlns:a="http://schemas.openxmlformats.org/drawingml/2006/main" noGrp="1"/>
          </p:cNvSpPr>
          <p:nvPr/>
        </p:nvSpPr>
        <p:spPr>
          <a:xfrm xmlns:a="http://schemas.openxmlformats.org/drawingml/2006/main">
            <a:off x="590550" y="59436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75" b="0" i="1">
                <a:solidFill>
                  <a:srgbClr val="E26A2C"/>
                </a:solidFill>
                <a:latin typeface="Georgia"/>
                <a:ea typeface="Georgia"/>
                <a:cs typeface="Georgia"/>
              </a:defRPr>
            </a:pPr>
            <a:r>
              <a:rPr sz="1875" b="0" i="1">
                <a:solidFill>
                  <a:srgbClr val="E26A2C"/>
                </a:solidFill>
                <a:latin typeface="Georgia"/>
                <a:ea typeface="Georgia"/>
                <a:cs typeface="Georgia"/>
              </a:rPr>
              <a:t>“Only looking forward.”</a:t>
            </a:r>
          </a:p>
        </p:txBody>
      </p:sp>
    </p:spTree>
    <p:extLst>
      <p:ext uri="{BB962C8B-B14F-4D97-AF65-F5344CB8AC3E}">
        <p14:creationId xmlns:p14="http://schemas.microsoft.com/office/powerpoint/2010/main" val="2142784317"/>
      </p:ext>
    </p:extLst>
  </p:cSld>
</p:sld>
</file>

<file path=ppt/slides/slide8.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3562B0-AD33-4266-8BE9-87A2B46A5FE3}"/>
              </a:ext>
            </a:extLst>
          </p:cNvPr>
          <p:cNvSpPr>
            <a:spLocks xmlns:a="http://schemas.openxmlformats.org/drawingml/2006/main" noGrp="1"/>
          </p:cNvSpPr>
          <p:nvPr/>
        </p:nvSpPr>
        <p:spPr>
          <a:xfrm xmlns:a="http://schemas.openxmlformats.org/drawingml/2006/main">
            <a:off x="609600" y="400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30 JUN / SION → GENEVA / 163.87 KM</a:t>
            </a:r>
          </a:p>
        </p:txBody>
      </p:sp>
      <p:sp>
        <p:nvSpPr>
          <p:cNvPr id="2" name="">
            <a:extLst xmlns:a="http://schemas.openxmlformats.org/drawingml/2006/main">
              <a:ext uri="{FF2B5EF4-FFF2-40B4-BE49-F238E27FC236}">
                <a16:creationId xmlns:a16="http://schemas.microsoft.com/office/drawing/2014/main" id="{277955D8-87B9-4897-8A19-D82BCF3B1941}"/>
              </a:ext>
            </a:extLst>
          </p:cNvPr>
          <p:cNvSpPr>
            <a:spLocks xmlns:a="http://schemas.openxmlformats.org/drawingml/2006/main" noGrp="1"/>
          </p:cNvSpPr>
          <p:nvPr/>
        </p:nvSpPr>
        <p:spPr>
          <a:xfrm xmlns:a="http://schemas.openxmlformats.org/drawingml/2006/main">
            <a:off x="609600" y="10096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5400" b="1" i="0">
                <a:solidFill>
                  <a:srgbClr val="FCF8F1"/>
                </a:solidFill>
                <a:latin typeface="DIN Condensed"/>
                <a:ea typeface="DIN Condensed"/>
                <a:cs typeface="DIN Condensed"/>
              </a:defRPr>
            </a:pPr>
            <a:r>
              <a:rPr sz="5400" b="1" i="0">
                <a:solidFill>
                  <a:srgbClr val="FCF8F1"/>
                </a:solidFill>
                <a:latin typeface="DIN Condensed"/>
                <a:ea typeface="DIN Condensed"/>
                <a:cs typeface="DIN Condensed"/>
              </a:rPr>
              <a:t>GENEVA</a:t>
            </a:r>
          </a:p>
        </p:txBody>
      </p:sp>
      <p:sp>
        <p:nvSpPr>
          <p:cNvPr id="3" name="">
            <a:extLst xmlns:a="http://schemas.openxmlformats.org/drawingml/2006/main">
              <a:ext uri="{FF2B5EF4-FFF2-40B4-BE49-F238E27FC236}">
                <a16:creationId xmlns:a16="http://schemas.microsoft.com/office/drawing/2014/main" id="{6E437FC8-0914-4AA9-B7B9-C95A7281B8D5}"/>
              </a:ext>
            </a:extLst>
          </p:cNvPr>
          <p:cNvSpPr>
            <a:spLocks xmlns:a="http://schemas.openxmlformats.org/drawingml/2006/main" noGrp="1"/>
          </p:cNvSpPr>
          <p:nvPr/>
        </p:nvSpPr>
        <p:spPr>
          <a:xfrm xmlns:a="http://schemas.openxmlformats.org/drawingml/2006/main">
            <a:off x="628650" y="2095500"/>
            <a:ext cx="5524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325" b="1" i="0">
                <a:solidFill>
                  <a:srgbClr val="D8D0C4"/>
                </a:solidFill>
                <a:latin typeface="DIN Condensed"/>
                <a:ea typeface="DIN Condensed"/>
                <a:cs typeface="DIN Condensed"/>
              </a:defRPr>
            </a:pPr>
            <a:r>
              <a:rPr sz="2325" b="1" i="0">
                <a:solidFill>
                  <a:srgbClr val="D8D0C4"/>
                </a:solidFill>
                <a:latin typeface="DIN Condensed"/>
                <a:ea typeface="DIN Condensed"/>
                <a:cs typeface="DIN Condensed"/>
              </a:rPr>
              <a:t>Two Airbnb cancellations.</a:t>
            </a:r>
          </a:p>
          <a:p xmlns:a="http://schemas.openxmlformats.org/drawingml/2006/main">
            <a:pPr algn="l">
              <a:lnSpc>
                <a:spcPct val="92000"/>
              </a:lnSpc>
              <a:buNone/>
              <a:defRPr sz="2325" b="1" i="0">
                <a:solidFill>
                  <a:srgbClr val="D8D0C4"/>
                </a:solidFill>
                <a:latin typeface="DIN Condensed"/>
                <a:ea typeface="DIN Condensed"/>
                <a:cs typeface="DIN Condensed"/>
              </a:defRPr>
            </a:pPr>
            <a:r>
              <a:rPr sz="2325" b="1" i="0">
                <a:solidFill>
                  <a:srgbClr val="D8D0C4"/>
                </a:solidFill>
                <a:latin typeface="DIN Condensed"/>
                <a:ea typeface="DIN Condensed"/>
                <a:cs typeface="DIN Condensed"/>
              </a:rPr>
              <a:t>The backup phone died.</a:t>
            </a:r>
          </a:p>
          <a:p xmlns:a="http://schemas.openxmlformats.org/drawingml/2006/main">
            <a:pPr algn="l">
              <a:lnSpc>
                <a:spcPct val="92000"/>
              </a:lnSpc>
              <a:buNone/>
              <a:defRPr sz="2325" b="1" i="0">
                <a:solidFill>
                  <a:srgbClr val="D8D0C4"/>
                </a:solidFill>
                <a:latin typeface="DIN Condensed"/>
                <a:ea typeface="DIN Condensed"/>
                <a:cs typeface="DIN Condensed"/>
              </a:defRPr>
            </a:pPr>
            <a:r>
              <a:rPr sz="2325" b="1" i="0">
                <a:solidFill>
                  <a:srgbClr val="D8D0C4"/>
                </a:solidFill>
                <a:latin typeface="DIN Condensed"/>
                <a:ea typeface="DIN Condensed"/>
                <a:cs typeface="DIN Condensed"/>
              </a:rPr>
              <a:t>The main phone was still broken.</a:t>
            </a:r>
          </a:p>
        </p:txBody>
      </p:sp>
      <p:sp>
        <p:nvSpPr>
          <p:cNvPr id="4" name="">
            <a:extLst xmlns:a="http://schemas.openxmlformats.org/drawingml/2006/main">
              <a:ext uri="{FF2B5EF4-FFF2-40B4-BE49-F238E27FC236}">
                <a16:creationId xmlns:a16="http://schemas.microsoft.com/office/drawing/2014/main" id="{444528AA-4822-44F3-900C-C15FDAA50D01}"/>
              </a:ext>
            </a:extLst>
          </p:cNvPr>
          <p:cNvSpPr>
            <a:spLocks xmlns:a="http://schemas.openxmlformats.org/drawingml/2006/main" noGrp="1"/>
          </p:cNvSpPr>
          <p:nvPr/>
        </p:nvSpPr>
        <p:spPr>
          <a:xfrm xmlns:a="http://schemas.openxmlformats.org/drawingml/2006/main">
            <a:off x="6515100" y="685800"/>
            <a:ext cx="0" cy="5410200"/>
          </a:xfrm>
          <a:prstGeom xmlns:a="http://schemas.openxmlformats.org/drawingml/2006/main" prst="line">
            <a:avLst/>
          </a:prstGeom>
          <a:noFill xmlns:a="http://schemas.openxmlformats.org/drawingml/2006/main"/>
          <a:ln xmlns:a="http://schemas.openxmlformats.org/drawingml/2006/main" w="19050">
            <a:solidFill>
              <a:srgbClr val="4A4840"/>
            </a:solidFill>
            <a:prstDash val="solid"/>
          </a:ln>
        </p:spPr>
      </p:sp>
      <p:sp>
        <p:nvSpPr>
          <p:cNvPr id="5" name="">
            <a:extLst xmlns:a="http://schemas.openxmlformats.org/drawingml/2006/main">
              <a:ext uri="{FF2B5EF4-FFF2-40B4-BE49-F238E27FC236}">
                <a16:creationId xmlns:a16="http://schemas.microsoft.com/office/drawing/2014/main" id="{B2DDFEFB-1F29-4B8E-9897-275C911BDD45}"/>
              </a:ext>
            </a:extLst>
          </p:cNvPr>
          <p:cNvSpPr>
            <a:spLocks xmlns:a="http://schemas.openxmlformats.org/drawingml/2006/main" noGrp="1"/>
          </p:cNvSpPr>
          <p:nvPr/>
        </p:nvSpPr>
        <p:spPr>
          <a:xfrm xmlns:a="http://schemas.openxmlformats.org/drawingml/2006/main">
            <a:off x="7010400" y="1047750"/>
            <a:ext cx="40957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0" i="0">
                <a:solidFill>
                  <a:srgbClr val="FCF8F1"/>
                </a:solidFill>
                <a:latin typeface="Avenir Next"/>
                <a:ea typeface="Avenir Next"/>
                <a:cs typeface="Avenir Next"/>
              </a:defRPr>
            </a:pPr>
            <a:r>
              <a:rPr sz="1725" b="0" i="0">
                <a:solidFill>
                  <a:srgbClr val="FCF8F1"/>
                </a:solidFill>
                <a:latin typeface="Avenir Next"/>
                <a:ea typeface="Avenir Next"/>
                <a:cs typeface="Avenir Next"/>
              </a:rPr>
              <a:t>For two hours I rode around the city trying to work out where to sleep. I panicked. I cried. The only open shops I found were inside the station.</a:t>
            </a:r>
          </a:p>
        </p:txBody>
      </p:sp>
      <p:sp>
        <p:nvSpPr>
          <p:cNvPr id="6" name="">
            <a:extLst xmlns:a="http://schemas.openxmlformats.org/drawingml/2006/main">
              <a:ext uri="{FF2B5EF4-FFF2-40B4-BE49-F238E27FC236}">
                <a16:creationId xmlns:a16="http://schemas.microsoft.com/office/drawing/2014/main" id="{D0799D40-814F-4020-92C5-351C022B234E}"/>
              </a:ext>
            </a:extLst>
          </p:cNvPr>
          <p:cNvSpPr>
            <a:spLocks xmlns:a="http://schemas.openxmlformats.org/drawingml/2006/main" noGrp="1"/>
          </p:cNvSpPr>
          <p:nvPr/>
        </p:nvSpPr>
        <p:spPr>
          <a:xfrm xmlns:a="http://schemas.openxmlformats.org/drawingml/2006/main">
            <a:off x="7010400" y="3105150"/>
            <a:ext cx="4095750" cy="2095500"/>
          </a:xfrm>
          <a:prstGeom xmlns:a="http://schemas.openxmlformats.org/drawingml/2006/main" prst="roundRect">
            <a:avLst>
              <a:gd name="adj" fmla="val 6364"/>
            </a:avLst>
          </a:prstGeom>
          <a:solidFill xmlns:a="http://schemas.openxmlformats.org/drawingml/2006/main">
            <a:srgbClr val="E26A2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8C042D-B150-4DF3-B8BC-287854FE12F6}"/>
              </a:ext>
            </a:extLst>
          </p:cNvPr>
          <p:cNvSpPr>
            <a:spLocks xmlns:a="http://schemas.openxmlformats.org/drawingml/2006/main" noGrp="1"/>
          </p:cNvSpPr>
          <p:nvPr/>
        </p:nvSpPr>
        <p:spPr>
          <a:xfrm xmlns:a="http://schemas.openxmlformats.org/drawingml/2006/main">
            <a:off x="7315200" y="33718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625" b="1" i="0">
                <a:solidFill>
                  <a:srgbClr val="181814"/>
                </a:solidFill>
                <a:latin typeface="DIN Condensed"/>
                <a:ea typeface="DIN Condensed"/>
                <a:cs typeface="DIN Condensed"/>
              </a:defRPr>
            </a:pPr>
            <a:r>
              <a:rPr sz="2625" b="1" i="0">
                <a:solidFill>
                  <a:srgbClr val="181814"/>
                </a:solidFill>
                <a:latin typeface="DIN Condensed"/>
                <a:ea typeface="DIN Condensed"/>
                <a:cs typeface="DIN Condensed"/>
              </a:rPr>
              <a:t>ZAHRAN</a:t>
            </a:r>
          </a:p>
        </p:txBody>
      </p:sp>
      <p:sp>
        <p:nvSpPr>
          <p:cNvPr id="8" name="">
            <a:extLst xmlns:a="http://schemas.openxmlformats.org/drawingml/2006/main">
              <a:ext uri="{FF2B5EF4-FFF2-40B4-BE49-F238E27FC236}">
                <a16:creationId xmlns:a16="http://schemas.microsoft.com/office/drawing/2014/main" id="{18B8DBFE-88EB-45FE-8197-9B22910B9B4C}"/>
              </a:ext>
            </a:extLst>
          </p:cNvPr>
          <p:cNvSpPr>
            <a:spLocks xmlns:a="http://schemas.openxmlformats.org/drawingml/2006/main" noGrp="1"/>
          </p:cNvSpPr>
          <p:nvPr/>
        </p:nvSpPr>
        <p:spPr>
          <a:xfrm xmlns:a="http://schemas.openxmlformats.org/drawingml/2006/main">
            <a:off x="7315200" y="39433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1" i="0">
                <a:solidFill>
                  <a:srgbClr val="181814"/>
                </a:solidFill>
                <a:latin typeface="Avenir Next"/>
                <a:ea typeface="Avenir Next"/>
                <a:cs typeface="Avenir Next"/>
              </a:defRPr>
            </a:pPr>
            <a:r>
              <a:rPr sz="1725" b="1" i="0">
                <a:solidFill>
                  <a:srgbClr val="181814"/>
                </a:solidFill>
                <a:latin typeface="Avenir Next"/>
                <a:ea typeface="Avenir Next"/>
                <a:cs typeface="Avenir Next"/>
              </a:rPr>
              <a:t>A stranger at the station heard what happened and offered me his balcony for the night.</a:t>
            </a:r>
          </a:p>
        </p:txBody>
      </p:sp>
      <p:sp>
        <p:nvSpPr>
          <p:cNvPr id="9" name="">
            <a:extLst xmlns:a="http://schemas.openxmlformats.org/drawingml/2006/main">
              <a:ext uri="{FF2B5EF4-FFF2-40B4-BE49-F238E27FC236}">
                <a16:creationId xmlns:a16="http://schemas.microsoft.com/office/drawing/2014/main" id="{D91FCAD4-BB70-4979-8D06-12C2A5D477EF}"/>
              </a:ext>
            </a:extLst>
          </p:cNvPr>
          <p:cNvSpPr>
            <a:spLocks xmlns:a="http://schemas.openxmlformats.org/drawingml/2006/main" noGrp="1"/>
          </p:cNvSpPr>
          <p:nvPr/>
        </p:nvSpPr>
        <p:spPr>
          <a:xfrm xmlns:a="http://schemas.openxmlformats.org/drawingml/2006/main">
            <a:off x="628650" y="51625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0" i="1">
                <a:solidFill>
                  <a:srgbClr val="E26A2C"/>
                </a:solidFill>
                <a:latin typeface="Georgia"/>
                <a:ea typeface="Georgia"/>
                <a:cs typeface="Georgia"/>
              </a:defRPr>
            </a:pPr>
            <a:r>
              <a:rPr sz="1725" b="0" i="1">
                <a:solidFill>
                  <a:srgbClr val="E26A2C"/>
                </a:solidFill>
                <a:latin typeface="Georgia"/>
                <a:ea typeface="Georgia"/>
                <a:cs typeface="Georgia"/>
              </a:rPr>
              <a:t>The next morning: masala, eggs, and a way forward.</a:t>
            </a:r>
          </a:p>
        </p:txBody>
      </p:sp>
      <p:sp>
        <p:nvSpPr>
          <p:cNvPr id="10" name="">
            <a:extLst xmlns:a="http://schemas.openxmlformats.org/drawingml/2006/main">
              <a:ext uri="{FF2B5EF4-FFF2-40B4-BE49-F238E27FC236}">
                <a16:creationId xmlns:a16="http://schemas.microsoft.com/office/drawing/2014/main" id="{9BEF9F68-832F-4FE4-9583-962CC30BE486}"/>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THE LOW POINT</a:t>
            </a:r>
          </a:p>
        </p:txBody>
      </p:sp>
      <p:sp>
        <p:nvSpPr>
          <p:cNvPr id="11" name="">
            <a:extLst xmlns:a="http://schemas.openxmlformats.org/drawingml/2006/main">
              <a:ext uri="{FF2B5EF4-FFF2-40B4-BE49-F238E27FC236}">
                <a16:creationId xmlns:a16="http://schemas.microsoft.com/office/drawing/2014/main" id="{21A423AF-DBBA-4037-870E-886D38494458}"/>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08</a:t>
            </a:r>
          </a:p>
        </p:txBody>
      </p:sp>
    </p:spTree>
    <p:extLst>
      <p:ext uri="{BB962C8B-B14F-4D97-AF65-F5344CB8AC3E}">
        <p14:creationId xmlns:p14="http://schemas.microsoft.com/office/powerpoint/2010/main" val="219694302"/>
      </p:ext>
    </p:extLst>
  </p:cSld>
</p:sld>
</file>

<file path=ppt/slides/slide9.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CF6F9E0-056F-40DB-ADAC-3D0C0B4DE3C4}"/>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1 JULY / RIDE 7</a:t>
            </a:r>
          </a:p>
        </p:txBody>
      </p:sp>
      <p:sp>
        <p:nvSpPr>
          <p:cNvPr id="2" name="">
            <a:extLst xmlns:a="http://schemas.openxmlformats.org/drawingml/2006/main">
              <a:ext uri="{FF2B5EF4-FFF2-40B4-BE49-F238E27FC236}">
                <a16:creationId xmlns:a16="http://schemas.microsoft.com/office/drawing/2014/main" id="{3583083F-56E8-445E-8314-3864839B516D}"/>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140.66 KM RECONSTRUCTED</a:t>
            </a:r>
          </a:p>
        </p:txBody>
      </p:sp>
      <p:sp>
        <p:nvSpPr>
          <p:cNvPr id="3" name="">
            <a:extLst xmlns:a="http://schemas.openxmlformats.org/drawingml/2006/main">
              <a:ext uri="{FF2B5EF4-FFF2-40B4-BE49-F238E27FC236}">
                <a16:creationId xmlns:a16="http://schemas.microsoft.com/office/drawing/2014/main" id="{8A4DCAA5-4A70-4600-88C1-48FC7A2ED33C}"/>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18b599d10b04b75"/>
          <a:srcRect xmlns:a="http://schemas.openxmlformats.org/drawingml/2006/main" l="14844" t="0" r="14844" b="0"/>
          <a:stretch xmlns:a="http://schemas.openxmlformats.org/drawingml/2006/main">
            <a:fillRect l="0" t="0" r="0" b="0"/>
          </a:stretch>
        </p:blipFill>
        <p:spPr>
          <a:xfrm xmlns:a="http://schemas.openxmlformats.org/drawingml/2006/main">
            <a:off x="609600" y="971550"/>
            <a:ext cx="6191250"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2664B2-11D9-42BB-B23F-CB73CD924EFE}"/>
              </a:ext>
            </a:extLst>
          </p:cNvPr>
          <p:cNvSpPr>
            <a:spLocks xmlns:a="http://schemas.openxmlformats.org/drawingml/2006/main" noGrp="1"/>
          </p:cNvSpPr>
          <p:nvPr/>
        </p:nvSpPr>
        <p:spPr>
          <a:xfrm xmlns:a="http://schemas.openxmlformats.org/drawingml/2006/main">
            <a:off x="4629150" y="4362450"/>
            <a:ext cx="2171700" cy="1562100"/>
          </a:xfrm>
          <a:prstGeom xmlns:a="http://schemas.openxmlformats.org/drawingml/2006/main" prst="roundRect">
            <a:avLst>
              <a:gd name="adj" fmla="val 6098"/>
            </a:avLst>
          </a:prstGeom>
          <a:solidFill xmlns:a="http://schemas.openxmlformats.org/drawingml/2006/main">
            <a:srgbClr val="18181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823326E-6E1B-417F-BBE5-2DFF2812EA3A}"/>
              </a:ext>
            </a:extLst>
          </p:cNvPr>
          <p:cNvSpPr>
            <a:spLocks xmlns:a="http://schemas.openxmlformats.org/drawingml/2006/main" noGrp="1"/>
          </p:cNvSpPr>
          <p:nvPr/>
        </p:nvSpPr>
        <p:spPr>
          <a:xfrm xmlns:a="http://schemas.openxmlformats.org/drawingml/2006/main">
            <a:off x="4857750" y="462915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ROUTE</a:t>
            </a:r>
          </a:p>
          <a:p xmlns:a="http://schemas.openxmlformats.org/drawingml/2006/main">
            <a:pPr algn="l">
              <a:lnSpc>
                <a:spcPct val="86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REWRITTEN</a:t>
            </a:r>
          </a:p>
        </p:txBody>
      </p:sp>
      <p:sp>
        <p:nvSpPr>
          <p:cNvPr id="7" name="">
            <a:extLst xmlns:a="http://schemas.openxmlformats.org/drawingml/2006/main">
              <a:ext uri="{FF2B5EF4-FFF2-40B4-BE49-F238E27FC236}">
                <a16:creationId xmlns:a16="http://schemas.microsoft.com/office/drawing/2014/main" id="{C5CD5B58-A023-4591-8C29-88F9BAE4F527}"/>
              </a:ext>
            </a:extLst>
          </p:cNvPr>
          <p:cNvSpPr>
            <a:spLocks xmlns:a="http://schemas.openxmlformats.org/drawingml/2006/main" noGrp="1"/>
          </p:cNvSpPr>
          <p:nvPr/>
        </p:nvSpPr>
        <p:spPr>
          <a:xfrm xmlns:a="http://schemas.openxmlformats.org/drawingml/2006/main">
            <a:off x="4857750" y="55054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POINT NORTH</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eff92387de4843"/>
          <a:srcRect xmlns:a="http://schemas.openxmlformats.org/drawingml/2006/main" l="0" t="97" r="0" b="97"/>
          <a:stretch xmlns:a="http://schemas.openxmlformats.org/drawingml/2006/main">
            <a:fillRect l="0" t="0" r="0" b="0"/>
          </a:stretch>
        </p:blipFill>
        <p:spPr>
          <a:xfrm xmlns:a="http://schemas.openxmlformats.org/drawingml/2006/main">
            <a:off x="7239000" y="971550"/>
            <a:ext cx="4343400" cy="2438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FB1D367-7342-411E-A745-141F334AF87A}"/>
              </a:ext>
            </a:extLst>
          </p:cNvPr>
          <p:cNvSpPr>
            <a:spLocks xmlns:a="http://schemas.openxmlformats.org/drawingml/2006/main" noGrp="1"/>
          </p:cNvSpPr>
          <p:nvPr/>
        </p:nvSpPr>
        <p:spPr>
          <a:xfrm xmlns:a="http://schemas.openxmlformats.org/drawingml/2006/main">
            <a:off x="7239000" y="3714750"/>
            <a:ext cx="4343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000" b="1" i="0">
                <a:solidFill>
                  <a:srgbClr val="1B1A16"/>
                </a:solidFill>
                <a:latin typeface="DIN Condensed"/>
                <a:ea typeface="DIN Condensed"/>
                <a:cs typeface="DIN Condensed"/>
              </a:defRPr>
            </a:pPr>
            <a:r>
              <a:rPr sz="3000" b="1" i="0">
                <a:solidFill>
                  <a:srgbClr val="1B1A16"/>
                </a:solidFill>
                <a:latin typeface="DIN Condensed"/>
                <a:ea typeface="DIN Condensed"/>
                <a:cs typeface="DIN Condensed"/>
              </a:rPr>
              <a:t>THE ORIGINAL ROUTE</a:t>
            </a:r>
          </a:p>
          <a:p xmlns:a="http://schemas.openxmlformats.org/drawingml/2006/main">
            <a:pPr algn="l">
              <a:lnSpc>
                <a:spcPct val="90000"/>
              </a:lnSpc>
              <a:buNone/>
              <a:defRPr sz="3000" b="1" i="0">
                <a:solidFill>
                  <a:srgbClr val="1B1A16"/>
                </a:solidFill>
                <a:latin typeface="DIN Condensed"/>
                <a:ea typeface="DIN Condensed"/>
                <a:cs typeface="DIN Condensed"/>
              </a:defRPr>
            </a:pPr>
            <a:r>
              <a:rPr sz="3000" b="1" i="0">
                <a:solidFill>
                  <a:srgbClr val="1B1A16"/>
                </a:solidFill>
                <a:latin typeface="DIN Condensed"/>
                <a:ea typeface="DIN Condensed"/>
                <a:cs typeface="DIN Condensed"/>
              </a:rPr>
              <a:t>WAS NOW IMPOSSIBLE</a:t>
            </a:r>
          </a:p>
        </p:txBody>
      </p:sp>
      <p:sp>
        <p:nvSpPr>
          <p:cNvPr id="10" name="">
            <a:extLst xmlns:a="http://schemas.openxmlformats.org/drawingml/2006/main">
              <a:ext uri="{FF2B5EF4-FFF2-40B4-BE49-F238E27FC236}">
                <a16:creationId xmlns:a16="http://schemas.microsoft.com/office/drawing/2014/main" id="{6CBEF77C-ED8F-4C5D-9D86-5F0F5A54CB3D}"/>
              </a:ext>
            </a:extLst>
          </p:cNvPr>
          <p:cNvSpPr>
            <a:spLocks xmlns:a="http://schemas.openxmlformats.org/drawingml/2006/main" noGrp="1"/>
          </p:cNvSpPr>
          <p:nvPr/>
        </p:nvSpPr>
        <p:spPr>
          <a:xfrm xmlns:a="http://schemas.openxmlformats.org/drawingml/2006/main">
            <a:off x="7239000" y="4895850"/>
            <a:ext cx="434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25"/>
          </a:bodyPr>
          <a:lstStyle xmlns:a="http://schemas.openxmlformats.org/drawingml/2006/main"/>
          <a:p xmlns:a="http://schemas.openxmlformats.org/drawingml/2006/main">
            <a:pPr algn="l">
              <a:lnSpc>
                <a:spcPct val="98000"/>
              </a:lnSpc>
              <a:buNone/>
              <a:defRPr sz="1725" b="1" i="0">
                <a:solidFill>
                  <a:srgbClr val="B43B2D"/>
                </a:solidFill>
                <a:latin typeface="Avenir Next"/>
                <a:ea typeface="Avenir Next"/>
                <a:cs typeface="Avenir Next"/>
              </a:defRPr>
            </a:pPr>
            <a:r>
              <a:rPr sz="1725" b="1" i="0">
                <a:solidFill>
                  <a:srgbClr val="B43B2D"/>
                </a:solidFill>
                <a:latin typeface="Avenir Next"/>
                <a:ea typeface="Avenir Next"/>
                <a:cs typeface="Avenir Next"/>
              </a:rPr>
              <a:t>264 km/day remained, including the Italian Alps.</a:t>
            </a:r>
          </a:p>
        </p:txBody>
      </p:sp>
      <p:sp>
        <p:nvSpPr>
          <p:cNvPr id="11" name="">
            <a:extLst xmlns:a="http://schemas.openxmlformats.org/drawingml/2006/main">
              <a:ext uri="{FF2B5EF4-FFF2-40B4-BE49-F238E27FC236}">
                <a16:creationId xmlns:a16="http://schemas.microsoft.com/office/drawing/2014/main" id="{8718EA23-9AD3-4D8C-8C39-DCD3DFAC6F9C}"/>
              </a:ext>
            </a:extLst>
          </p:cNvPr>
          <p:cNvSpPr>
            <a:spLocks xmlns:a="http://schemas.openxmlformats.org/drawingml/2006/main" noGrp="1"/>
          </p:cNvSpPr>
          <p:nvPr/>
        </p:nvSpPr>
        <p:spPr>
          <a:xfrm xmlns:a="http://schemas.openxmlformats.org/drawingml/2006/main">
            <a:off x="7239000" y="5486400"/>
            <a:ext cx="434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350" b="0" i="0">
                <a:solidFill>
                  <a:srgbClr val="6F695F"/>
                </a:solidFill>
                <a:latin typeface="Avenir Next"/>
                <a:ea typeface="Avenir Next"/>
                <a:cs typeface="Avenir Next"/>
              </a:defRPr>
            </a:pPr>
            <a:r>
              <a:rPr sz="1350" b="0" i="0">
                <a:solidFill>
                  <a:srgbClr val="6F695F"/>
                </a:solidFill>
                <a:latin typeface="Avenir Next"/>
                <a:ea typeface="Avenir Next"/>
                <a:cs typeface="Avenir Next"/>
              </a:rPr>
              <a:t>The replacement screen cost €180. My cousin transferred the payment. I pointed north: Lyon → Paris → Belgium → Rhine.</a:t>
            </a:r>
          </a:p>
        </p:txBody>
      </p:sp>
      <p:sp>
        <p:nvSpPr>
          <p:cNvPr id="12" name="">
            <a:extLst xmlns:a="http://schemas.openxmlformats.org/drawingml/2006/main">
              <a:ext uri="{FF2B5EF4-FFF2-40B4-BE49-F238E27FC236}">
                <a16:creationId xmlns:a16="http://schemas.microsoft.com/office/drawing/2014/main" id="{E4667E0D-FBA3-46E5-A11C-7CFF9619ABB2}"/>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3" name="">
            <a:extLst xmlns:a="http://schemas.openxmlformats.org/drawingml/2006/main">
              <a:ext uri="{FF2B5EF4-FFF2-40B4-BE49-F238E27FC236}">
                <a16:creationId xmlns:a16="http://schemas.microsoft.com/office/drawing/2014/main" id="{7D701BBE-420D-46FA-A68A-C3C1CCA1F107}"/>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09</a:t>
            </a:r>
          </a:p>
        </p:txBody>
      </p:sp>
    </p:spTree>
    <p:extLst>
      <p:ext uri="{BB962C8B-B14F-4D97-AF65-F5344CB8AC3E}">
        <p14:creationId xmlns:p14="http://schemas.microsoft.com/office/powerpoint/2010/main" val="147943924"/>
      </p:ext>
    </p:extLst>
  </p:cSld>
</p:sld>
</file>

<file path=ppt/slides/slide10.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19DBFBA-7E14-4638-A00C-ACFA8B25DE1D}"/>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2 JULY / RIDE 8</a:t>
            </a:r>
          </a:p>
        </p:txBody>
      </p:sp>
      <p:sp>
        <p:nvSpPr>
          <p:cNvPr id="2" name="">
            <a:extLst xmlns:a="http://schemas.openxmlformats.org/drawingml/2006/main">
              <a:ext uri="{FF2B5EF4-FFF2-40B4-BE49-F238E27FC236}">
                <a16:creationId xmlns:a16="http://schemas.microsoft.com/office/drawing/2014/main" id="{A7C80D84-A1E6-467E-8970-C5676A1C253C}"/>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172.48 KM</a:t>
            </a:r>
          </a:p>
        </p:txBody>
      </p:sp>
      <p:sp>
        <p:nvSpPr>
          <p:cNvPr id="3" name="">
            <a:extLst xmlns:a="http://schemas.openxmlformats.org/drawingml/2006/main">
              <a:ext uri="{FF2B5EF4-FFF2-40B4-BE49-F238E27FC236}">
                <a16:creationId xmlns:a16="http://schemas.microsoft.com/office/drawing/2014/main" id="{D56AB2A7-86B3-44AE-9EA7-895577249AEB}"/>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C782C46E-BDA2-4ED5-B3BD-7F10DA453552}"/>
              </a:ext>
            </a:extLst>
          </p:cNvPr>
          <p:cNvSpPr>
            <a:spLocks xmlns:a="http://schemas.openxmlformats.org/drawingml/2006/main" noGrp="1"/>
          </p:cNvSpPr>
          <p:nvPr/>
        </p:nvSpPr>
        <p:spPr>
          <a:xfrm xmlns:a="http://schemas.openxmlformats.org/drawingml/2006/main">
            <a:off x="609600" y="87630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375" b="1" i="0">
                <a:solidFill>
                  <a:srgbClr val="1B1A16"/>
                </a:solidFill>
                <a:latin typeface="DIN Condensed"/>
                <a:ea typeface="DIN Condensed"/>
                <a:cs typeface="DIN Condensed"/>
              </a:defRPr>
            </a:pPr>
            <a:r>
              <a:rPr sz="3375" b="1" i="0">
                <a:solidFill>
                  <a:srgbClr val="1B1A16"/>
                </a:solidFill>
                <a:latin typeface="DIN Condensed"/>
                <a:ea typeface="DIN Condensed"/>
                <a:cs typeface="DIN Condensed"/>
              </a:rPr>
              <a:t>THE NEXT PROBLEM WAS A PUNCTURE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46aec20a74e4488"/>
          <a:srcRect xmlns:a="http://schemas.openxmlformats.org/drawingml/2006/main" l="0" t="0" r="0" b="0"/>
          <a:stretch xmlns:a="http://schemas.openxmlformats.org/drawingml/2006/main">
            <a:fillRect l="0" t="0" r="0" b="0"/>
          </a:stretch>
        </p:blipFill>
        <p:spPr>
          <a:xfrm xmlns:a="http://schemas.openxmlformats.org/drawingml/2006/main">
            <a:off x="609600" y="1752600"/>
            <a:ext cx="6400800" cy="36004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9eae9be061d4d5f"/>
          <a:srcRect xmlns:a="http://schemas.openxmlformats.org/drawingml/2006/main" l="0" t="112" r="0" b="112"/>
          <a:stretch xmlns:a="http://schemas.openxmlformats.org/drawingml/2006/main">
            <a:fillRect l="0" t="0" r="0" b="0"/>
          </a:stretch>
        </p:blipFill>
        <p:spPr>
          <a:xfrm xmlns:a="http://schemas.openxmlformats.org/drawingml/2006/main">
            <a:off x="7239000" y="1752600"/>
            <a:ext cx="4343400" cy="2438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2321465-DF1A-4D0E-BC3A-8FB3D5AF8407}"/>
              </a:ext>
            </a:extLst>
          </p:cNvPr>
          <p:cNvSpPr>
            <a:spLocks xmlns:a="http://schemas.openxmlformats.org/drawingml/2006/main" noGrp="1"/>
          </p:cNvSpPr>
          <p:nvPr/>
        </p:nvSpPr>
        <p:spPr>
          <a:xfrm xmlns:a="http://schemas.openxmlformats.org/drawingml/2006/main">
            <a:off x="7239000" y="4419600"/>
            <a:ext cx="4343400" cy="933450"/>
          </a:xfrm>
          <a:prstGeom xmlns:a="http://schemas.openxmlformats.org/drawingml/2006/main" prst="roundRect">
            <a:avLst>
              <a:gd name="adj" fmla="val 12245"/>
            </a:avLst>
          </a:prstGeom>
          <a:solidFill xmlns:a="http://schemas.openxmlformats.org/drawingml/2006/main">
            <a:srgbClr val="18181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79AF47-3339-4548-9A99-8E1F5FAB16C2}"/>
              </a:ext>
            </a:extLst>
          </p:cNvPr>
          <p:cNvSpPr>
            <a:spLocks xmlns:a="http://schemas.openxmlformats.org/drawingml/2006/main" noGrp="1"/>
          </p:cNvSpPr>
          <p:nvPr/>
        </p:nvSpPr>
        <p:spPr>
          <a:xfrm xmlns:a="http://schemas.openxmlformats.org/drawingml/2006/main">
            <a:off x="7505700" y="4629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E26A2C"/>
                </a:solidFill>
                <a:latin typeface="DIN Condensed"/>
                <a:ea typeface="DIN Condensed"/>
                <a:cs typeface="DIN Condensed"/>
              </a:defRPr>
            </a:pPr>
            <a:r>
              <a:rPr sz="1650" b="1" i="0">
                <a:solidFill>
                  <a:srgbClr val="E26A2C"/>
                </a:solidFill>
                <a:latin typeface="DIN Condensed"/>
                <a:ea typeface="DIN Condensed"/>
                <a:cs typeface="DIN Condensed"/>
              </a:rPr>
              <a:t>OLIVIER + ANTON</a:t>
            </a:r>
          </a:p>
        </p:txBody>
      </p:sp>
      <p:sp>
        <p:nvSpPr>
          <p:cNvPr id="9" name="">
            <a:extLst xmlns:a="http://schemas.openxmlformats.org/drawingml/2006/main">
              <a:ext uri="{FF2B5EF4-FFF2-40B4-BE49-F238E27FC236}">
                <a16:creationId xmlns:a16="http://schemas.microsoft.com/office/drawing/2014/main" id="{6B44DF6F-C4A8-4C02-9C5A-87E5FF3D7CF6}"/>
              </a:ext>
            </a:extLst>
          </p:cNvPr>
          <p:cNvSpPr>
            <a:spLocks xmlns:a="http://schemas.openxmlformats.org/drawingml/2006/main" noGrp="1"/>
          </p:cNvSpPr>
          <p:nvPr/>
        </p:nvSpPr>
        <p:spPr>
          <a:xfrm xmlns:a="http://schemas.openxmlformats.org/drawingml/2006/main">
            <a:off x="7505700" y="4953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FCF8F1"/>
                </a:solidFill>
                <a:latin typeface="Avenir Next"/>
                <a:ea typeface="Avenir Next"/>
                <a:cs typeface="Avenir Next"/>
              </a:defRPr>
            </a:pPr>
            <a:r>
              <a:rPr sz="1275" b="1" i="0">
                <a:solidFill>
                  <a:srgbClr val="FCF8F1"/>
                </a:solidFill>
                <a:latin typeface="Avenir Next"/>
                <a:ea typeface="Avenir Next"/>
                <a:cs typeface="Avenir Next"/>
              </a:rPr>
              <a:t>€50 tyre · labour + tools free</a:t>
            </a:r>
          </a:p>
        </p:txBody>
      </p:sp>
      <p:sp>
        <p:nvSpPr>
          <p:cNvPr id="10" name="">
            <a:extLst xmlns:a="http://schemas.openxmlformats.org/drawingml/2006/main">
              <a:ext uri="{FF2B5EF4-FFF2-40B4-BE49-F238E27FC236}">
                <a16:creationId xmlns:a16="http://schemas.microsoft.com/office/drawing/2014/main" id="{5179A7DC-6575-4BA4-A610-D03EF1701638}"/>
              </a:ext>
            </a:extLst>
          </p:cNvPr>
          <p:cNvSpPr>
            <a:spLocks xmlns:a="http://schemas.openxmlformats.org/drawingml/2006/main" noGrp="1"/>
          </p:cNvSpPr>
          <p:nvPr/>
        </p:nvSpPr>
        <p:spPr>
          <a:xfrm xmlns:a="http://schemas.openxmlformats.org/drawingml/2006/main">
            <a:off x="609600" y="55245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B43B2D"/>
                </a:solidFill>
                <a:latin typeface="DIN Condensed"/>
                <a:ea typeface="DIN Condensed"/>
                <a:cs typeface="DIN Condensed"/>
              </a:defRPr>
            </a:pPr>
            <a:r>
              <a:rPr sz="4350" b="1" i="0">
                <a:solidFill>
                  <a:srgbClr val="B43B2D"/>
                </a:solidFill>
                <a:latin typeface="DIN Condensed"/>
                <a:ea typeface="DIN Condensed"/>
                <a:cs typeface="DIN Condensed"/>
              </a:rPr>
              <a:t>20 KM</a:t>
            </a:r>
          </a:p>
        </p:txBody>
      </p:sp>
      <p:sp>
        <p:nvSpPr>
          <p:cNvPr id="11" name="">
            <a:extLst xmlns:a="http://schemas.openxmlformats.org/drawingml/2006/main">
              <a:ext uri="{FF2B5EF4-FFF2-40B4-BE49-F238E27FC236}">
                <a16:creationId xmlns:a16="http://schemas.microsoft.com/office/drawing/2014/main" id="{8FE36A1A-E5BA-4E3B-AE66-8A5C3267E475}"/>
              </a:ext>
            </a:extLst>
          </p:cNvPr>
          <p:cNvSpPr>
            <a:spLocks xmlns:a="http://schemas.openxmlformats.org/drawingml/2006/main" noGrp="1"/>
          </p:cNvSpPr>
          <p:nvPr/>
        </p:nvSpPr>
        <p:spPr>
          <a:xfrm xmlns:a="http://schemas.openxmlformats.org/drawingml/2006/main">
            <a:off x="609600" y="61626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RIDDEN WHILE IT LEAKED</a:t>
            </a:r>
          </a:p>
        </p:txBody>
      </p:sp>
      <p:sp>
        <p:nvSpPr>
          <p:cNvPr id="12" name="">
            <a:extLst xmlns:a="http://schemas.openxmlformats.org/drawingml/2006/main">
              <a:ext uri="{FF2B5EF4-FFF2-40B4-BE49-F238E27FC236}">
                <a16:creationId xmlns:a16="http://schemas.microsoft.com/office/drawing/2014/main" id="{C13CEF3E-84E8-4F31-A0A1-801CEE564381}"/>
              </a:ext>
            </a:extLst>
          </p:cNvPr>
          <p:cNvSpPr>
            <a:spLocks xmlns:a="http://schemas.openxmlformats.org/drawingml/2006/main" noGrp="1"/>
          </p:cNvSpPr>
          <p:nvPr/>
        </p:nvSpPr>
        <p:spPr>
          <a:xfrm xmlns:a="http://schemas.openxmlformats.org/drawingml/2006/main">
            <a:off x="2933700" y="55245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B43B2D"/>
                </a:solidFill>
                <a:latin typeface="DIN Condensed"/>
                <a:ea typeface="DIN Condensed"/>
                <a:cs typeface="DIN Condensed"/>
              </a:defRPr>
            </a:pPr>
            <a:r>
              <a:rPr sz="4350" b="1" i="0">
                <a:solidFill>
                  <a:srgbClr val="B43B2D"/>
                </a:solidFill>
                <a:latin typeface="DIN Condensed"/>
                <a:ea typeface="DIN Condensed"/>
                <a:cs typeface="DIN Condensed"/>
              </a:rPr>
              <a:t>2 L</a:t>
            </a:r>
          </a:p>
        </p:txBody>
      </p:sp>
      <p:sp>
        <p:nvSpPr>
          <p:cNvPr id="13" name="">
            <a:extLst xmlns:a="http://schemas.openxmlformats.org/drawingml/2006/main">
              <a:ext uri="{FF2B5EF4-FFF2-40B4-BE49-F238E27FC236}">
                <a16:creationId xmlns:a16="http://schemas.microsoft.com/office/drawing/2014/main" id="{4AD7F983-823E-4BFF-8EC1-2C5EBCD24301}"/>
              </a:ext>
            </a:extLst>
          </p:cNvPr>
          <p:cNvSpPr>
            <a:spLocks xmlns:a="http://schemas.openxmlformats.org/drawingml/2006/main" noGrp="1"/>
          </p:cNvSpPr>
          <p:nvPr/>
        </p:nvSpPr>
        <p:spPr>
          <a:xfrm xmlns:a="http://schemas.openxmlformats.org/drawingml/2006/main">
            <a:off x="2933700" y="61626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WATER DUMPED TO SAVE WEIGHT</a:t>
            </a:r>
          </a:p>
        </p:txBody>
      </p:sp>
      <p:sp>
        <p:nvSpPr>
          <p:cNvPr id="14" name="">
            <a:extLst xmlns:a="http://schemas.openxmlformats.org/drawingml/2006/main">
              <a:ext uri="{FF2B5EF4-FFF2-40B4-BE49-F238E27FC236}">
                <a16:creationId xmlns:a16="http://schemas.microsoft.com/office/drawing/2014/main" id="{61E9A2A6-9F58-473A-AD53-7A231AA98842}"/>
              </a:ext>
            </a:extLst>
          </p:cNvPr>
          <p:cNvSpPr>
            <a:spLocks xmlns:a="http://schemas.openxmlformats.org/drawingml/2006/main" noGrp="1"/>
          </p:cNvSpPr>
          <p:nvPr/>
        </p:nvSpPr>
        <p:spPr>
          <a:xfrm xmlns:a="http://schemas.openxmlformats.org/drawingml/2006/main">
            <a:off x="5257800" y="55245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E26A2C"/>
                </a:solidFill>
                <a:latin typeface="DIN Condensed"/>
                <a:ea typeface="DIN Condensed"/>
                <a:cs typeface="DIN Condensed"/>
              </a:defRPr>
            </a:pPr>
            <a:r>
              <a:rPr sz="4350" b="1" i="0">
                <a:solidFill>
                  <a:srgbClr val="E26A2C"/>
                </a:solidFill>
                <a:latin typeface="DIN Condensed"/>
                <a:ea typeface="DIN Condensed"/>
                <a:cs typeface="DIN Condensed"/>
              </a:rPr>
              <a:t>2–4 KM</a:t>
            </a:r>
          </a:p>
        </p:txBody>
      </p:sp>
      <p:sp>
        <p:nvSpPr>
          <p:cNvPr id="15" name="">
            <a:extLst xmlns:a="http://schemas.openxmlformats.org/drawingml/2006/main">
              <a:ext uri="{FF2B5EF4-FFF2-40B4-BE49-F238E27FC236}">
                <a16:creationId xmlns:a16="http://schemas.microsoft.com/office/drawing/2014/main" id="{6C000B28-48A6-43AF-A837-22A3474151AF}"/>
              </a:ext>
            </a:extLst>
          </p:cNvPr>
          <p:cNvSpPr>
            <a:spLocks xmlns:a="http://schemas.openxmlformats.org/drawingml/2006/main" noGrp="1"/>
          </p:cNvSpPr>
          <p:nvPr/>
        </p:nvSpPr>
        <p:spPr>
          <a:xfrm xmlns:a="http://schemas.openxmlformats.org/drawingml/2006/main">
            <a:off x="5257800" y="61626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BETWEEN HAND-PUMP STOPS</a:t>
            </a:r>
          </a:p>
        </p:txBody>
      </p:sp>
      <p:sp>
        <p:nvSpPr>
          <p:cNvPr id="16" name="">
            <a:extLst xmlns:a="http://schemas.openxmlformats.org/drawingml/2006/main">
              <a:ext uri="{FF2B5EF4-FFF2-40B4-BE49-F238E27FC236}">
                <a16:creationId xmlns:a16="http://schemas.microsoft.com/office/drawing/2014/main" id="{DEF2590E-EFE1-454C-BA09-6DE87E9B9381}"/>
              </a:ext>
            </a:extLst>
          </p:cNvPr>
          <p:cNvSpPr>
            <a:spLocks xmlns:a="http://schemas.openxmlformats.org/drawingml/2006/main" noGrp="1"/>
          </p:cNvSpPr>
          <p:nvPr/>
        </p:nvSpPr>
        <p:spPr>
          <a:xfrm xmlns:a="http://schemas.openxmlformats.org/drawingml/2006/main">
            <a:off x="7715250" y="5753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89"/>
          </a:bodyPr>
          <a:lstStyle xmlns:a="http://schemas.openxmlformats.org/drawingml/2006/main"/>
          <a:p xmlns:a="http://schemas.openxmlformats.org/drawingml/2006/main">
            <a:pPr algn="l">
              <a:lnSpc>
                <a:spcPct val="98000"/>
              </a:lnSpc>
              <a:buNone/>
              <a:defRPr sz="1500" b="0" i="1">
                <a:solidFill>
                  <a:srgbClr val="6F695F"/>
                </a:solidFill>
                <a:latin typeface="Georgia"/>
                <a:ea typeface="Georgia"/>
                <a:cs typeface="Georgia"/>
              </a:defRPr>
            </a:pPr>
            <a:r>
              <a:rPr sz="1500" b="0" i="1">
                <a:solidFill>
                  <a:srgbClr val="6F695F"/>
                </a:solidFill>
                <a:latin typeface="Georgia"/>
                <a:ea typeface="Georgia"/>
                <a:cs typeface="Georgia"/>
              </a:rPr>
              <a:t>Then: Lyon, the Saône, and a bed beside the river.</a:t>
            </a:r>
          </a:p>
        </p:txBody>
      </p:sp>
      <p:sp>
        <p:nvSpPr>
          <p:cNvPr id="17" name="">
            <a:extLst xmlns:a="http://schemas.openxmlformats.org/drawingml/2006/main">
              <a:ext uri="{FF2B5EF4-FFF2-40B4-BE49-F238E27FC236}">
                <a16:creationId xmlns:a16="http://schemas.microsoft.com/office/drawing/2014/main" id="{6C2F8CEB-11CE-47E4-9B1A-BAB135F88B31}"/>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8" name="">
            <a:extLst xmlns:a="http://schemas.openxmlformats.org/drawingml/2006/main">
              <a:ext uri="{FF2B5EF4-FFF2-40B4-BE49-F238E27FC236}">
                <a16:creationId xmlns:a16="http://schemas.microsoft.com/office/drawing/2014/main" id="{FBA11B3E-FE5F-4D9F-94AD-3326F899B729}"/>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10</a:t>
            </a:r>
          </a:p>
        </p:txBody>
      </p:sp>
    </p:spTree>
    <p:extLst>
      <p:ext uri="{BB962C8B-B14F-4D97-AF65-F5344CB8AC3E}">
        <p14:creationId xmlns:p14="http://schemas.microsoft.com/office/powerpoint/2010/main" val="772907863"/>
      </p:ext>
    </p:extLst>
  </p:cSld>
</p:sld>
</file>

<file path=ppt/slides/slide11.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40fc76f1a13476a"/>
          <a:srcRect xmlns:a="http://schemas.openxmlformats.org/drawingml/2006/main" l="22917" t="0" r="2291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D7F574-F7D0-42C4-BB30-DB01FE107C8E}"/>
              </a:ext>
            </a:extLst>
          </p:cNvPr>
          <p:cNvSpPr>
            <a:spLocks xmlns:a="http://schemas.openxmlformats.org/drawingml/2006/main" noGrp="1"/>
          </p:cNvSpPr>
          <p:nvPr/>
        </p:nvSpPr>
        <p:spPr>
          <a:xfrm xmlns:a="http://schemas.openxmlformats.org/drawingml/2006/main">
            <a:off x="0" y="0"/>
            <a:ext cx="737235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A8B6B6-F2E2-4E29-A8A1-4255BA5344C5}"/>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3–4 JUL / RIDES 9–10</a:t>
            </a:r>
          </a:p>
        </p:txBody>
      </p:sp>
      <p:sp>
        <p:nvSpPr>
          <p:cNvPr id="4" name="">
            <a:extLst xmlns:a="http://schemas.openxmlformats.org/drawingml/2006/main">
              <a:ext uri="{FF2B5EF4-FFF2-40B4-BE49-F238E27FC236}">
                <a16:creationId xmlns:a16="http://schemas.microsoft.com/office/drawing/2014/main" id="{6665775A-AE7E-42A2-BB46-CCE97909DEA0}"/>
              </a:ext>
            </a:extLst>
          </p:cNvPr>
          <p:cNvSpPr>
            <a:spLocks xmlns:a="http://schemas.openxmlformats.org/drawingml/2006/main" noGrp="1"/>
          </p:cNvSpPr>
          <p:nvPr/>
        </p:nvSpPr>
        <p:spPr>
          <a:xfrm xmlns:a="http://schemas.openxmlformats.org/drawingml/2006/main">
            <a:off x="609600" y="990600"/>
            <a:ext cx="5715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4000"/>
              </a:lnSpc>
              <a:buNone/>
              <a:defRPr sz="5100" b="1" i="0">
                <a:solidFill>
                  <a:srgbClr val="FCF8F1"/>
                </a:solidFill>
                <a:latin typeface="DIN Condensed"/>
                <a:ea typeface="DIN Condensed"/>
                <a:cs typeface="DIN Condensed"/>
              </a:defRPr>
            </a:pPr>
            <a:r>
              <a:rPr sz="5100" b="1" i="0">
                <a:solidFill>
                  <a:srgbClr val="FCF8F1"/>
                </a:solidFill>
                <a:latin typeface="DIN Condensed"/>
                <a:ea typeface="DIN Condensed"/>
                <a:cs typeface="DIN Condensed"/>
              </a:rPr>
              <a:t>562.45 KM</a:t>
            </a:r>
          </a:p>
          <a:p xmlns:a="http://schemas.openxmlformats.org/drawingml/2006/main">
            <a:pPr algn="l">
              <a:lnSpc>
                <a:spcPct val="84000"/>
              </a:lnSpc>
              <a:buNone/>
              <a:defRPr sz="5100" b="1" i="0">
                <a:solidFill>
                  <a:srgbClr val="FCF8F1"/>
                </a:solidFill>
                <a:latin typeface="DIN Condensed"/>
                <a:ea typeface="DIN Condensed"/>
                <a:cs typeface="DIN Condensed"/>
              </a:defRPr>
            </a:pPr>
            <a:r>
              <a:rPr sz="5100" b="1" i="0">
                <a:solidFill>
                  <a:srgbClr val="FCF8F1"/>
                </a:solidFill>
                <a:latin typeface="DIN Condensed"/>
                <a:ea typeface="DIN Condensed"/>
                <a:cs typeface="DIN Condensed"/>
              </a:rPr>
              <a:t>TO PARIS</a:t>
            </a:r>
          </a:p>
        </p:txBody>
      </p:sp>
      <p:sp>
        <p:nvSpPr>
          <p:cNvPr id="5" name="">
            <a:extLst xmlns:a="http://schemas.openxmlformats.org/drawingml/2006/main">
              <a:ext uri="{FF2B5EF4-FFF2-40B4-BE49-F238E27FC236}">
                <a16:creationId xmlns:a16="http://schemas.microsoft.com/office/drawing/2014/main" id="{9710A992-D94A-459F-9B12-530EBE37CAC9}"/>
              </a:ext>
            </a:extLst>
          </p:cNvPr>
          <p:cNvSpPr>
            <a:spLocks xmlns:a="http://schemas.openxmlformats.org/drawingml/2006/main" noGrp="1"/>
          </p:cNvSpPr>
          <p:nvPr/>
        </p:nvSpPr>
        <p:spPr>
          <a:xfrm xmlns:a="http://schemas.openxmlformats.org/drawingml/2006/main">
            <a:off x="609600" y="2686050"/>
            <a:ext cx="5905500" cy="0"/>
          </a:xfrm>
          <a:prstGeom xmlns:a="http://schemas.openxmlformats.org/drawingml/2006/main" prst="line">
            <a:avLst/>
          </a:prstGeom>
          <a:noFill xmlns:a="http://schemas.openxmlformats.org/drawingml/2006/main"/>
          <a:ln xmlns:a="http://schemas.openxmlformats.org/drawingml/2006/main" w="9525">
            <a:solidFill>
              <a:srgbClr val="4E4C44"/>
            </a:solidFill>
            <a:prstDash val="solid"/>
          </a:ln>
        </p:spPr>
      </p:sp>
      <p:sp>
        <p:nvSpPr>
          <p:cNvPr id="6" name="">
            <a:extLst xmlns:a="http://schemas.openxmlformats.org/drawingml/2006/main">
              <a:ext uri="{FF2B5EF4-FFF2-40B4-BE49-F238E27FC236}">
                <a16:creationId xmlns:a16="http://schemas.microsoft.com/office/drawing/2014/main" id="{D1A217A3-28A8-4B2C-8605-CFD6FFB9FB01}"/>
              </a:ext>
            </a:extLst>
          </p:cNvPr>
          <p:cNvSpPr>
            <a:spLocks xmlns:a="http://schemas.openxmlformats.org/drawingml/2006/main" noGrp="1"/>
          </p:cNvSpPr>
          <p:nvPr/>
        </p:nvSpPr>
        <p:spPr>
          <a:xfrm xmlns:a="http://schemas.openxmlformats.org/drawingml/2006/main">
            <a:off x="609600" y="30099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03 JUL</a:t>
            </a:r>
          </a:p>
        </p:txBody>
      </p:sp>
      <p:sp>
        <p:nvSpPr>
          <p:cNvPr id="7" name="">
            <a:extLst xmlns:a="http://schemas.openxmlformats.org/drawingml/2006/main">
              <a:ext uri="{FF2B5EF4-FFF2-40B4-BE49-F238E27FC236}">
                <a16:creationId xmlns:a16="http://schemas.microsoft.com/office/drawing/2014/main" id="{AE32F0F0-292B-470C-8C9B-48A350A5899D}"/>
              </a:ext>
            </a:extLst>
          </p:cNvPr>
          <p:cNvSpPr>
            <a:spLocks xmlns:a="http://schemas.openxmlformats.org/drawingml/2006/main" noGrp="1"/>
          </p:cNvSpPr>
          <p:nvPr/>
        </p:nvSpPr>
        <p:spPr>
          <a:xfrm xmlns:a="http://schemas.openxmlformats.org/drawingml/2006/main">
            <a:off x="1866900" y="29337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025" b="1" i="0">
                <a:solidFill>
                  <a:srgbClr val="FCF8F1"/>
                </a:solidFill>
                <a:latin typeface="DIN Condensed"/>
                <a:ea typeface="DIN Condensed"/>
                <a:cs typeface="DIN Condensed"/>
              </a:defRPr>
            </a:pPr>
            <a:r>
              <a:rPr sz="2025" b="1" i="0">
                <a:solidFill>
                  <a:srgbClr val="FCF8F1"/>
                </a:solidFill>
                <a:latin typeface="DIN Condensed"/>
                <a:ea typeface="DIN Condensed"/>
                <a:cs typeface="DIN Condensed"/>
              </a:rPr>
              <a:t>274.98 KM · FLEURVILLE → NEVERS</a:t>
            </a:r>
          </a:p>
        </p:txBody>
      </p:sp>
      <p:sp>
        <p:nvSpPr>
          <p:cNvPr id="8" name="">
            <a:extLst xmlns:a="http://schemas.openxmlformats.org/drawingml/2006/main">
              <a:ext uri="{FF2B5EF4-FFF2-40B4-BE49-F238E27FC236}">
                <a16:creationId xmlns:a16="http://schemas.microsoft.com/office/drawing/2014/main" id="{1BB34975-2AAE-4C7D-9FE0-70D7584C3ACD}"/>
              </a:ext>
            </a:extLst>
          </p:cNvPr>
          <p:cNvSpPr>
            <a:spLocks xmlns:a="http://schemas.openxmlformats.org/drawingml/2006/main" noGrp="1"/>
          </p:cNvSpPr>
          <p:nvPr/>
        </p:nvSpPr>
        <p:spPr>
          <a:xfrm xmlns:a="http://schemas.openxmlformats.org/drawingml/2006/main">
            <a:off x="1866900" y="339090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425" b="0" i="0">
                <a:solidFill>
                  <a:srgbClr val="D5CEC3"/>
                </a:solidFill>
                <a:latin typeface="Avenir Next"/>
                <a:ea typeface="Avenir Next"/>
                <a:cs typeface="Avenir Next"/>
              </a:defRPr>
            </a:pPr>
            <a:r>
              <a:rPr sz="1425" b="0" i="0">
                <a:solidFill>
                  <a:srgbClr val="D5CEC3"/>
                </a:solidFill>
                <a:latin typeface="Avenir Next"/>
                <a:ea typeface="Avenir Next"/>
                <a:cs typeface="Avenir Next"/>
              </a:rPr>
              <a:t>Wasp sting. Nosebleed. Lost Croc elastic. Headwind. An 80 km/h road with no shoulder.</a:t>
            </a:r>
          </a:p>
        </p:txBody>
      </p:sp>
      <p:sp>
        <p:nvSpPr>
          <p:cNvPr id="9" name="">
            <a:extLst xmlns:a="http://schemas.openxmlformats.org/drawingml/2006/main">
              <a:ext uri="{FF2B5EF4-FFF2-40B4-BE49-F238E27FC236}">
                <a16:creationId xmlns:a16="http://schemas.microsoft.com/office/drawing/2014/main" id="{DA82CA1F-9B01-41FA-B816-F0F67F7FA02A}"/>
              </a:ext>
            </a:extLst>
          </p:cNvPr>
          <p:cNvSpPr>
            <a:spLocks xmlns:a="http://schemas.openxmlformats.org/drawingml/2006/main" noGrp="1"/>
          </p:cNvSpPr>
          <p:nvPr/>
        </p:nvSpPr>
        <p:spPr>
          <a:xfrm xmlns:a="http://schemas.openxmlformats.org/drawingml/2006/main">
            <a:off x="609600" y="45339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04 JUL</a:t>
            </a:r>
          </a:p>
        </p:txBody>
      </p:sp>
      <p:sp>
        <p:nvSpPr>
          <p:cNvPr id="10" name="">
            <a:extLst xmlns:a="http://schemas.openxmlformats.org/drawingml/2006/main">
              <a:ext uri="{FF2B5EF4-FFF2-40B4-BE49-F238E27FC236}">
                <a16:creationId xmlns:a16="http://schemas.microsoft.com/office/drawing/2014/main" id="{5945420D-13F4-43D5-83BD-0764949FC159}"/>
              </a:ext>
            </a:extLst>
          </p:cNvPr>
          <p:cNvSpPr>
            <a:spLocks xmlns:a="http://schemas.openxmlformats.org/drawingml/2006/main" noGrp="1"/>
          </p:cNvSpPr>
          <p:nvPr/>
        </p:nvSpPr>
        <p:spPr>
          <a:xfrm xmlns:a="http://schemas.openxmlformats.org/drawingml/2006/main">
            <a:off x="1866900" y="44577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025" b="1" i="0">
                <a:solidFill>
                  <a:srgbClr val="FCF8F1"/>
                </a:solidFill>
                <a:latin typeface="DIN Condensed"/>
                <a:ea typeface="DIN Condensed"/>
                <a:cs typeface="DIN Condensed"/>
              </a:defRPr>
            </a:pPr>
            <a:r>
              <a:rPr sz="2025" b="1" i="0">
                <a:solidFill>
                  <a:srgbClr val="FCF8F1"/>
                </a:solidFill>
                <a:latin typeface="DIN Condensed"/>
                <a:ea typeface="DIN Condensed"/>
                <a:cs typeface="DIN Condensed"/>
              </a:rPr>
              <a:t>287.47 KM · NEVERS → PARIS</a:t>
            </a:r>
          </a:p>
        </p:txBody>
      </p:sp>
      <p:sp>
        <p:nvSpPr>
          <p:cNvPr id="11" name="">
            <a:extLst xmlns:a="http://schemas.openxmlformats.org/drawingml/2006/main">
              <a:ext uri="{FF2B5EF4-FFF2-40B4-BE49-F238E27FC236}">
                <a16:creationId xmlns:a16="http://schemas.microsoft.com/office/drawing/2014/main" id="{EF1F90A4-B12C-4D49-A4CE-4CCBD867A20D}"/>
              </a:ext>
            </a:extLst>
          </p:cNvPr>
          <p:cNvSpPr>
            <a:spLocks xmlns:a="http://schemas.openxmlformats.org/drawingml/2006/main" noGrp="1"/>
          </p:cNvSpPr>
          <p:nvPr/>
        </p:nvSpPr>
        <p:spPr>
          <a:xfrm xmlns:a="http://schemas.openxmlformats.org/drawingml/2006/main">
            <a:off x="1866900" y="4914900"/>
            <a:ext cx="4572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425" b="0" i="0">
                <a:solidFill>
                  <a:srgbClr val="D5CEC3"/>
                </a:solidFill>
                <a:latin typeface="Avenir Next"/>
                <a:ea typeface="Avenir Next"/>
                <a:cs typeface="Avenir Next"/>
              </a:defRPr>
            </a:pPr>
            <a:r>
              <a:rPr sz="1425" b="0" i="0">
                <a:solidFill>
                  <a:srgbClr val="D5CEC3"/>
                </a:solidFill>
                <a:latin typeface="Avenir Next"/>
                <a:ea typeface="Avenir Next"/>
                <a:cs typeface="Avenir Next"/>
              </a:rPr>
              <a:t>Started hungry. Fontainebleau. Paris traffic. Apple Maps sent me to the wrong address. Arrived about 23:30.</a:t>
            </a:r>
          </a:p>
        </p:txBody>
      </p:sp>
      <p:sp>
        <p:nvSpPr>
          <p:cNvPr id="12" name="">
            <a:extLst xmlns:a="http://schemas.openxmlformats.org/drawingml/2006/main">
              <a:ext uri="{FF2B5EF4-FFF2-40B4-BE49-F238E27FC236}">
                <a16:creationId xmlns:a16="http://schemas.microsoft.com/office/drawing/2014/main" id="{7283EB15-69D1-4404-A144-D204ECCE6D16}"/>
              </a:ext>
            </a:extLst>
          </p:cNvPr>
          <p:cNvSpPr>
            <a:spLocks xmlns:a="http://schemas.openxmlformats.org/drawingml/2006/main" noGrp="1"/>
          </p:cNvSpPr>
          <p:nvPr/>
        </p:nvSpPr>
        <p:spPr>
          <a:xfrm xmlns:a="http://schemas.openxmlformats.org/drawingml/2006/main">
            <a:off x="609600" y="60960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75" b="0" i="1">
                <a:solidFill>
                  <a:srgbClr val="E26A2C"/>
                </a:solidFill>
                <a:latin typeface="Georgia"/>
                <a:ea typeface="Georgia"/>
                <a:cs typeface="Georgia"/>
              </a:defRPr>
            </a:pPr>
            <a:r>
              <a:rPr sz="1875" b="0" i="1">
                <a:solidFill>
                  <a:srgbClr val="E26A2C"/>
                </a:solidFill>
                <a:latin typeface="Georgia"/>
                <a:ea typeface="Georgia"/>
                <a:cs typeface="Georgia"/>
              </a:rPr>
              <a:t>Dinner was still waiting.</a:t>
            </a:r>
          </a:p>
        </p:txBody>
      </p:sp>
    </p:spTree>
    <p:extLst>
      <p:ext uri="{BB962C8B-B14F-4D97-AF65-F5344CB8AC3E}">
        <p14:creationId xmlns:p14="http://schemas.microsoft.com/office/powerpoint/2010/main" val="256439378"/>
      </p:ext>
    </p:extLst>
  </p:cSld>
</p:sld>
</file>

<file path=ppt/slides/slide12.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C3B4DCB-404F-40C6-AE6C-B902D3436F2D}"/>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5–7 JULY</a:t>
            </a:r>
          </a:p>
        </p:txBody>
      </p:sp>
      <p:sp>
        <p:nvSpPr>
          <p:cNvPr id="2" name="">
            <a:extLst xmlns:a="http://schemas.openxmlformats.org/drawingml/2006/main">
              <a:ext uri="{FF2B5EF4-FFF2-40B4-BE49-F238E27FC236}">
                <a16:creationId xmlns:a16="http://schemas.microsoft.com/office/drawing/2014/main" id="{A9BD7D0E-13DF-413D-9F6E-2159029E4551}"/>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206.39 KM RIDDEN</a:t>
            </a:r>
          </a:p>
        </p:txBody>
      </p:sp>
      <p:sp>
        <p:nvSpPr>
          <p:cNvPr id="3" name="">
            <a:extLst xmlns:a="http://schemas.openxmlformats.org/drawingml/2006/main">
              <a:ext uri="{FF2B5EF4-FFF2-40B4-BE49-F238E27FC236}">
                <a16:creationId xmlns:a16="http://schemas.microsoft.com/office/drawing/2014/main" id="{88737977-D179-4826-A520-12E91C8DFE94}"/>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593D3E2E-790C-4C3C-B13D-9E71E86DB11C}"/>
              </a:ext>
            </a:extLst>
          </p:cNvPr>
          <p:cNvSpPr>
            <a:spLocks xmlns:a="http://schemas.openxmlformats.org/drawingml/2006/main" noGrp="1"/>
          </p:cNvSpPr>
          <p:nvPr/>
        </p:nvSpPr>
        <p:spPr>
          <a:xfrm xmlns:a="http://schemas.openxmlformats.org/drawingml/2006/main">
            <a:off x="609600" y="876300"/>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PARIS → DROCOURT → VIMY</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b74ab80e13440cd"/>
          <a:srcRect xmlns:a="http://schemas.openxmlformats.org/drawingml/2006/main" l="12286" t="0" r="12286" b="0"/>
          <a:stretch xmlns:a="http://schemas.openxmlformats.org/drawingml/2006/main">
            <a:fillRect l="0" t="0" r="0" b="0"/>
          </a:stretch>
        </p:blipFill>
        <p:spPr>
          <a:xfrm xmlns:a="http://schemas.openxmlformats.org/drawingml/2006/main">
            <a:off x="609600" y="1733550"/>
            <a:ext cx="3352800"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ACAC0FD-73F3-4B9C-B633-9F584DB361D9}"/>
              </a:ext>
            </a:extLst>
          </p:cNvPr>
          <p:cNvSpPr>
            <a:spLocks xmlns:a="http://schemas.openxmlformats.org/drawingml/2006/main" noGrp="1"/>
          </p:cNvSpPr>
          <p:nvPr/>
        </p:nvSpPr>
        <p:spPr>
          <a:xfrm xmlns:a="http://schemas.openxmlformats.org/drawingml/2006/main">
            <a:off x="609600" y="5067300"/>
            <a:ext cx="3352800" cy="8763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1D593B-A3B9-4DD5-8ED7-0023116D6260}"/>
              </a:ext>
            </a:extLst>
          </p:cNvPr>
          <p:cNvSpPr>
            <a:spLocks xmlns:a="http://schemas.openxmlformats.org/drawingml/2006/main" noGrp="1"/>
          </p:cNvSpPr>
          <p:nvPr/>
        </p:nvSpPr>
        <p:spPr>
          <a:xfrm xmlns:a="http://schemas.openxmlformats.org/drawingml/2006/main">
            <a:off x="800100" y="52387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05 JUL / PARIS</a:t>
            </a:r>
          </a:p>
        </p:txBody>
      </p:sp>
      <p:sp>
        <p:nvSpPr>
          <p:cNvPr id="8" name="">
            <a:extLst xmlns:a="http://schemas.openxmlformats.org/drawingml/2006/main">
              <a:ext uri="{FF2B5EF4-FFF2-40B4-BE49-F238E27FC236}">
                <a16:creationId xmlns:a16="http://schemas.microsoft.com/office/drawing/2014/main" id="{0E77DD23-C9E3-4B00-8CC9-1F31A7416E27}"/>
              </a:ext>
            </a:extLst>
          </p:cNvPr>
          <p:cNvSpPr>
            <a:spLocks xmlns:a="http://schemas.openxmlformats.org/drawingml/2006/main" noGrp="1"/>
          </p:cNvSpPr>
          <p:nvPr/>
        </p:nvSpPr>
        <p:spPr>
          <a:xfrm xmlns:a="http://schemas.openxmlformats.org/drawingml/2006/main">
            <a:off x="800100" y="5524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FCF8F1"/>
                </a:solidFill>
                <a:latin typeface="Avenir Next"/>
                <a:ea typeface="Avenir Next"/>
                <a:cs typeface="Avenir Next"/>
              </a:defRPr>
            </a:pPr>
            <a:r>
              <a:rPr sz="1500" b="1" i="0">
                <a:solidFill>
                  <a:srgbClr val="FCF8F1"/>
                </a:solidFill>
                <a:latin typeface="Avenir Next"/>
                <a:ea typeface="Avenir Next"/>
                <a:cs typeface="Avenir Next"/>
              </a:rPr>
              <a:t>Rest with my aunt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409431e427c43f2"/>
          <a:srcRect xmlns:a="http://schemas.openxmlformats.org/drawingml/2006/main" l="12286" t="0" r="12286" b="0"/>
          <a:stretch xmlns:a="http://schemas.openxmlformats.org/drawingml/2006/main">
            <a:fillRect l="0" t="0" r="0" b="0"/>
          </a:stretch>
        </p:blipFill>
        <p:spPr>
          <a:xfrm xmlns:a="http://schemas.openxmlformats.org/drawingml/2006/main">
            <a:off x="4267200" y="1733550"/>
            <a:ext cx="3352800" cy="3333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12B9A63-88D1-434F-9A31-11C4DB3C1E6A}"/>
              </a:ext>
            </a:extLst>
          </p:cNvPr>
          <p:cNvSpPr>
            <a:spLocks xmlns:a="http://schemas.openxmlformats.org/drawingml/2006/main" noGrp="1"/>
          </p:cNvSpPr>
          <p:nvPr/>
        </p:nvSpPr>
        <p:spPr>
          <a:xfrm xmlns:a="http://schemas.openxmlformats.org/drawingml/2006/main">
            <a:off x="4267200" y="5067300"/>
            <a:ext cx="3352800" cy="8763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F3D6BE-584F-469B-ACE6-479A80C98C88}"/>
              </a:ext>
            </a:extLst>
          </p:cNvPr>
          <p:cNvSpPr>
            <a:spLocks xmlns:a="http://schemas.openxmlformats.org/drawingml/2006/main" noGrp="1"/>
          </p:cNvSpPr>
          <p:nvPr/>
        </p:nvSpPr>
        <p:spPr>
          <a:xfrm xmlns:a="http://schemas.openxmlformats.org/drawingml/2006/main">
            <a:off x="4457700" y="52387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06 JUL / DROCOURT</a:t>
            </a:r>
          </a:p>
        </p:txBody>
      </p:sp>
      <p:sp>
        <p:nvSpPr>
          <p:cNvPr id="12" name="">
            <a:extLst xmlns:a="http://schemas.openxmlformats.org/drawingml/2006/main">
              <a:ext uri="{FF2B5EF4-FFF2-40B4-BE49-F238E27FC236}">
                <a16:creationId xmlns:a16="http://schemas.microsoft.com/office/drawing/2014/main" id="{84614246-D8E7-4D87-BAA3-967C3800AB46}"/>
              </a:ext>
            </a:extLst>
          </p:cNvPr>
          <p:cNvSpPr>
            <a:spLocks xmlns:a="http://schemas.openxmlformats.org/drawingml/2006/main" noGrp="1"/>
          </p:cNvSpPr>
          <p:nvPr/>
        </p:nvSpPr>
        <p:spPr>
          <a:xfrm xmlns:a="http://schemas.openxmlformats.org/drawingml/2006/main">
            <a:off x="4457700" y="5524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FCF8F1"/>
                </a:solidFill>
                <a:latin typeface="Avenir Next"/>
                <a:ea typeface="Avenir Next"/>
                <a:cs typeface="Avenir Next"/>
              </a:defRPr>
            </a:pPr>
            <a:r>
              <a:rPr sz="1500" b="1" i="0">
                <a:solidFill>
                  <a:srgbClr val="FCF8F1"/>
                </a:solidFill>
                <a:latin typeface="Avenir Next"/>
                <a:ea typeface="Avenir Next"/>
                <a:cs typeface="Avenir Next"/>
              </a:rPr>
              <a:t>Dinner with Jean-Luc</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c9d3f0cf570471f"/>
          <a:srcRect xmlns:a="http://schemas.openxmlformats.org/drawingml/2006/main" l="0" t="12713" r="0" b="12713"/>
          <a:stretch xmlns:a="http://schemas.openxmlformats.org/drawingml/2006/main">
            <a:fillRect l="0" t="0" r="0" b="0"/>
          </a:stretch>
        </p:blipFill>
        <p:spPr>
          <a:xfrm xmlns:a="http://schemas.openxmlformats.org/drawingml/2006/main">
            <a:off x="7924800" y="1733550"/>
            <a:ext cx="3352800" cy="3333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5F34147-236E-4A4E-A5CF-5A6BA5C67CC2}"/>
              </a:ext>
            </a:extLst>
          </p:cNvPr>
          <p:cNvSpPr>
            <a:spLocks xmlns:a="http://schemas.openxmlformats.org/drawingml/2006/main" noGrp="1"/>
          </p:cNvSpPr>
          <p:nvPr/>
        </p:nvSpPr>
        <p:spPr>
          <a:xfrm xmlns:a="http://schemas.openxmlformats.org/drawingml/2006/main">
            <a:off x="7924800" y="5067300"/>
            <a:ext cx="3352800" cy="8763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67C2C7-E0AE-48BC-B77F-B531EAD06EA1}"/>
              </a:ext>
            </a:extLst>
          </p:cNvPr>
          <p:cNvSpPr>
            <a:spLocks xmlns:a="http://schemas.openxmlformats.org/drawingml/2006/main" noGrp="1"/>
          </p:cNvSpPr>
          <p:nvPr/>
        </p:nvSpPr>
        <p:spPr>
          <a:xfrm xmlns:a="http://schemas.openxmlformats.org/drawingml/2006/main">
            <a:off x="8115300" y="52387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07 JUL / VIMY</a:t>
            </a:r>
          </a:p>
        </p:txBody>
      </p:sp>
      <p:sp>
        <p:nvSpPr>
          <p:cNvPr id="16" name="">
            <a:extLst xmlns:a="http://schemas.openxmlformats.org/drawingml/2006/main">
              <a:ext uri="{FF2B5EF4-FFF2-40B4-BE49-F238E27FC236}">
                <a16:creationId xmlns:a16="http://schemas.microsoft.com/office/drawing/2014/main" id="{B3FFC20F-FBCD-43CA-AFC2-584E98CC5D0A}"/>
              </a:ext>
            </a:extLst>
          </p:cNvPr>
          <p:cNvSpPr>
            <a:spLocks xmlns:a="http://schemas.openxmlformats.org/drawingml/2006/main" noGrp="1"/>
          </p:cNvSpPr>
          <p:nvPr/>
        </p:nvSpPr>
        <p:spPr>
          <a:xfrm xmlns:a="http://schemas.openxmlformats.org/drawingml/2006/main">
            <a:off x="8115300" y="5524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FCF8F1"/>
                </a:solidFill>
                <a:latin typeface="Avenir Next"/>
                <a:ea typeface="Avenir Next"/>
                <a:cs typeface="Avenir Next"/>
              </a:defRPr>
            </a:pPr>
            <a:r>
              <a:rPr sz="1500" b="1" i="0">
                <a:solidFill>
                  <a:srgbClr val="FCF8F1"/>
                </a:solidFill>
                <a:latin typeface="Avenir Next"/>
                <a:ea typeface="Avenir Next"/>
                <a:cs typeface="Avenir Next"/>
              </a:rPr>
              <a:t>A non-riding day</a:t>
            </a:r>
          </a:p>
        </p:txBody>
      </p:sp>
      <p:sp>
        <p:nvSpPr>
          <p:cNvPr id="17" name="">
            <a:extLst xmlns:a="http://schemas.openxmlformats.org/drawingml/2006/main">
              <a:ext uri="{FF2B5EF4-FFF2-40B4-BE49-F238E27FC236}">
                <a16:creationId xmlns:a16="http://schemas.microsoft.com/office/drawing/2014/main" id="{31EB9B9A-E349-4566-B670-1ED243E34C08}"/>
              </a:ext>
            </a:extLst>
          </p:cNvPr>
          <p:cNvSpPr>
            <a:spLocks xmlns:a="http://schemas.openxmlformats.org/drawingml/2006/main" noGrp="1"/>
          </p:cNvSpPr>
          <p:nvPr/>
        </p:nvSpPr>
        <p:spPr>
          <a:xfrm xmlns:a="http://schemas.openxmlformats.org/drawingml/2006/main">
            <a:off x="609600" y="61341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425" b="0" i="0">
                <a:solidFill>
                  <a:srgbClr val="6F695F"/>
                </a:solidFill>
                <a:latin typeface="Avenir Next"/>
                <a:ea typeface="Avenir Next"/>
                <a:cs typeface="Avenir Next"/>
              </a:defRPr>
            </a:pPr>
            <a:r>
              <a:rPr sz="1425" b="0" i="0">
                <a:solidFill>
                  <a:srgbClr val="6F695F"/>
                </a:solidFill>
                <a:latin typeface="Avenir Next"/>
                <a:ea typeface="Avenir Next"/>
                <a:cs typeface="Avenir Next"/>
              </a:rPr>
              <a:t>War cemeteries, poppies, coal slag heaps, and two days in which the kilometres were not the main event.</a:t>
            </a:r>
          </a:p>
        </p:txBody>
      </p:sp>
      <p:sp>
        <p:nvSpPr>
          <p:cNvPr id="18" name="">
            <a:extLst xmlns:a="http://schemas.openxmlformats.org/drawingml/2006/main">
              <a:ext uri="{FF2B5EF4-FFF2-40B4-BE49-F238E27FC236}">
                <a16:creationId xmlns:a16="http://schemas.microsoft.com/office/drawing/2014/main" id="{DE35FD08-BF60-464E-AB8F-7414DF890B2E}"/>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9" name="">
            <a:extLst xmlns:a="http://schemas.openxmlformats.org/drawingml/2006/main">
              <a:ext uri="{FF2B5EF4-FFF2-40B4-BE49-F238E27FC236}">
                <a16:creationId xmlns:a16="http://schemas.microsoft.com/office/drawing/2014/main" id="{EB85897C-0A09-41E3-BDA2-64884DB49663}"/>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12</a:t>
            </a:r>
          </a:p>
        </p:txBody>
      </p:sp>
    </p:spTree>
    <p:extLst>
      <p:ext uri="{BB962C8B-B14F-4D97-AF65-F5344CB8AC3E}">
        <p14:creationId xmlns:p14="http://schemas.microsoft.com/office/powerpoint/2010/main" val="1274655444"/>
      </p:ext>
    </p:extLst>
  </p:cSld>
</p:sld>
</file>

<file path=ppt/slides/slide13.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B321C5-6276-47DF-8FB6-2FACF8231954}"/>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8 JULY / RIDE 12</a:t>
            </a:r>
          </a:p>
        </p:txBody>
      </p:sp>
      <p:sp>
        <p:nvSpPr>
          <p:cNvPr id="2" name="">
            <a:extLst xmlns:a="http://schemas.openxmlformats.org/drawingml/2006/main">
              <a:ext uri="{FF2B5EF4-FFF2-40B4-BE49-F238E27FC236}">
                <a16:creationId xmlns:a16="http://schemas.microsoft.com/office/drawing/2014/main" id="{8FB6FAE4-A78F-4A85-AFA8-57AF16BC61DA}"/>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197.17 KM</a:t>
            </a:r>
          </a:p>
        </p:txBody>
      </p:sp>
      <p:sp>
        <p:nvSpPr>
          <p:cNvPr id="3" name="">
            <a:extLst xmlns:a="http://schemas.openxmlformats.org/drawingml/2006/main">
              <a:ext uri="{FF2B5EF4-FFF2-40B4-BE49-F238E27FC236}">
                <a16:creationId xmlns:a16="http://schemas.microsoft.com/office/drawing/2014/main" id="{A59247BC-064D-45D1-BEFE-5731293EA340}"/>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826ae0b5fc548e3"/>
          <a:srcRect xmlns:a="http://schemas.openxmlformats.org/drawingml/2006/main" l="6250" t="0" r="6250" b="0"/>
          <a:stretch xmlns:a="http://schemas.openxmlformats.org/drawingml/2006/main">
            <a:fillRect l="0" t="0" r="0" b="0"/>
          </a:stretch>
        </p:blipFill>
        <p:spPr>
          <a:xfrm xmlns:a="http://schemas.openxmlformats.org/drawingml/2006/main">
            <a:off x="609600" y="971550"/>
            <a:ext cx="3200400" cy="4876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19070449dae44a9"/>
          <a:srcRect xmlns:a="http://schemas.openxmlformats.org/drawingml/2006/main" l="0" t="20597" r="0" b="20597"/>
          <a:stretch xmlns:a="http://schemas.openxmlformats.org/drawingml/2006/main">
            <a:fillRect l="0" t="0" r="0" b="0"/>
          </a:stretch>
        </p:blipFill>
        <p:spPr>
          <a:xfrm xmlns:a="http://schemas.openxmlformats.org/drawingml/2006/main">
            <a:off x="4095750" y="971550"/>
            <a:ext cx="7486650" cy="2476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246038bf73c405b"/>
          <a:srcRect xmlns:a="http://schemas.openxmlformats.org/drawingml/2006/main" l="0" t="3040" r="0" b="3040"/>
          <a:stretch xmlns:a="http://schemas.openxmlformats.org/drawingml/2006/main">
            <a:fillRect l="0" t="0" r="0" b="0"/>
          </a:stretch>
        </p:blipFill>
        <p:spPr>
          <a:xfrm xmlns:a="http://schemas.openxmlformats.org/drawingml/2006/main">
            <a:off x="4095750" y="3714750"/>
            <a:ext cx="3028950" cy="2133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F41E81D-6806-419E-A522-BCD66711F1E3}"/>
              </a:ext>
            </a:extLst>
          </p:cNvPr>
          <p:cNvSpPr>
            <a:spLocks xmlns:a="http://schemas.openxmlformats.org/drawingml/2006/main" noGrp="1"/>
          </p:cNvSpPr>
          <p:nvPr/>
        </p:nvSpPr>
        <p:spPr>
          <a:xfrm xmlns:a="http://schemas.openxmlformats.org/drawingml/2006/main">
            <a:off x="7486650" y="3790950"/>
            <a:ext cx="409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775" b="1" i="0">
                <a:solidFill>
                  <a:srgbClr val="1B1A16"/>
                </a:solidFill>
                <a:latin typeface="DIN Condensed"/>
                <a:ea typeface="DIN Condensed"/>
                <a:cs typeface="DIN Condensed"/>
              </a:defRPr>
            </a:pPr>
            <a:r>
              <a:rPr sz="2775" b="1" i="0">
                <a:solidFill>
                  <a:srgbClr val="1B1A16"/>
                </a:solidFill>
                <a:latin typeface="DIN Condensed"/>
                <a:ea typeface="DIN Condensed"/>
                <a:cs typeface="DIN Condensed"/>
              </a:rPr>
              <a:t>IN BRUGES, I CHOSE</a:t>
            </a:r>
          </a:p>
          <a:p xmlns:a="http://schemas.openxmlformats.org/drawingml/2006/main">
            <a:pPr algn="l">
              <a:lnSpc>
                <a:spcPct val="90000"/>
              </a:lnSpc>
              <a:buNone/>
              <a:defRPr sz="2775" b="1" i="0">
                <a:solidFill>
                  <a:srgbClr val="1B1A16"/>
                </a:solidFill>
                <a:latin typeface="DIN Condensed"/>
                <a:ea typeface="DIN Condensed"/>
                <a:cs typeface="DIN Condensed"/>
              </a:defRPr>
            </a:pPr>
            <a:r>
              <a:rPr sz="2775" b="1" i="0">
                <a:solidFill>
                  <a:srgbClr val="1B1A16"/>
                </a:solidFill>
                <a:latin typeface="DIN Condensed"/>
                <a:ea typeface="DIN Condensed"/>
                <a:cs typeface="DIN Condensed"/>
              </a:rPr>
              <a:t>TWO DAYS INSTEAD OF THREE</a:t>
            </a:r>
          </a:p>
        </p:txBody>
      </p:sp>
      <p:sp>
        <p:nvSpPr>
          <p:cNvPr id="8" name="">
            <a:extLst xmlns:a="http://schemas.openxmlformats.org/drawingml/2006/main">
              <a:ext uri="{FF2B5EF4-FFF2-40B4-BE49-F238E27FC236}">
                <a16:creationId xmlns:a16="http://schemas.microsoft.com/office/drawing/2014/main" id="{218BC093-EE91-4656-A7F1-416D61D1E33E}"/>
              </a:ext>
            </a:extLst>
          </p:cNvPr>
          <p:cNvSpPr>
            <a:spLocks xmlns:a="http://schemas.openxmlformats.org/drawingml/2006/main" noGrp="1"/>
          </p:cNvSpPr>
          <p:nvPr/>
        </p:nvSpPr>
        <p:spPr>
          <a:xfrm xmlns:a="http://schemas.openxmlformats.org/drawingml/2006/main">
            <a:off x="7486650" y="4914900"/>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0" i="0">
                <a:solidFill>
                  <a:srgbClr val="6F695F"/>
                </a:solidFill>
                <a:latin typeface="Avenir Next"/>
                <a:ea typeface="Avenir Next"/>
                <a:cs typeface="Avenir Next"/>
              </a:defRPr>
            </a:pPr>
            <a:r>
              <a:rPr sz="1575" b="0" i="0">
                <a:solidFill>
                  <a:srgbClr val="6F695F"/>
                </a:solidFill>
                <a:latin typeface="Avenir Next"/>
                <a:ea typeface="Avenir Next"/>
                <a:cs typeface="Avenir Next"/>
              </a:rPr>
              <a:t>About 600 km remained. Finishing earlier meant seeing family sooner.</a:t>
            </a:r>
          </a:p>
        </p:txBody>
      </p:sp>
      <p:sp>
        <p:nvSpPr>
          <p:cNvPr id="9" name="">
            <a:extLst xmlns:a="http://schemas.openxmlformats.org/drawingml/2006/main">
              <a:ext uri="{FF2B5EF4-FFF2-40B4-BE49-F238E27FC236}">
                <a16:creationId xmlns:a16="http://schemas.microsoft.com/office/drawing/2014/main" id="{E1E1DC9A-91BE-4657-98AB-EABDB0AF4DD8}"/>
              </a:ext>
            </a:extLst>
          </p:cNvPr>
          <p:cNvSpPr>
            <a:spLocks xmlns:a="http://schemas.openxmlformats.org/drawingml/2006/main" noGrp="1"/>
          </p:cNvSpPr>
          <p:nvPr/>
        </p:nvSpPr>
        <p:spPr>
          <a:xfrm xmlns:a="http://schemas.openxmlformats.org/drawingml/2006/main">
            <a:off x="7486650" y="5734050"/>
            <a:ext cx="2724150" cy="323850"/>
          </a:xfrm>
          <a:prstGeom xmlns:a="http://schemas.openxmlformats.org/drawingml/2006/main" prst="roundRect">
            <a:avLst>
              <a:gd name="adj" fmla="val 50000"/>
            </a:avLst>
          </a:prstGeom>
          <a:solidFill xmlns:a="http://schemas.openxmlformats.org/drawingml/2006/main">
            <a:srgbClr val="E26A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F7A4DF-9B3D-46B5-BB23-79DDF7916A37}"/>
              </a:ext>
            </a:extLst>
          </p:cNvPr>
          <p:cNvSpPr>
            <a:spLocks xmlns:a="http://schemas.openxmlformats.org/drawingml/2006/main" noGrp="1"/>
          </p:cNvSpPr>
          <p:nvPr/>
        </p:nvSpPr>
        <p:spPr>
          <a:xfrm xmlns:a="http://schemas.openxmlformats.org/drawingml/2006/main">
            <a:off x="7677150" y="5800725"/>
            <a:ext cx="2343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050" b="1" i="0">
                <a:solidFill>
                  <a:srgbClr val="181814"/>
                </a:solidFill>
                <a:latin typeface="Avenir Next"/>
                <a:ea typeface="Avenir Next"/>
                <a:cs typeface="Avenir Next"/>
              </a:defRPr>
            </a:pPr>
            <a:r>
              <a:rPr sz="1050" b="1" i="0">
                <a:solidFill>
                  <a:srgbClr val="181814"/>
                </a:solidFill>
                <a:latin typeface="Avenir Next"/>
                <a:ea typeface="Avenir Next"/>
                <a:cs typeface="Avenir Next"/>
              </a:rPr>
              <a:t>CHAIN: “PURE BUTTER”</a:t>
            </a:r>
          </a:p>
        </p:txBody>
      </p:sp>
      <p:sp>
        <p:nvSpPr>
          <p:cNvPr id="11" name="">
            <a:extLst xmlns:a="http://schemas.openxmlformats.org/drawingml/2006/main">
              <a:ext uri="{FF2B5EF4-FFF2-40B4-BE49-F238E27FC236}">
                <a16:creationId xmlns:a16="http://schemas.microsoft.com/office/drawing/2014/main" id="{E071D8DF-D34B-4547-809E-5633120D59F7}"/>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2" name="">
            <a:extLst xmlns:a="http://schemas.openxmlformats.org/drawingml/2006/main">
              <a:ext uri="{FF2B5EF4-FFF2-40B4-BE49-F238E27FC236}">
                <a16:creationId xmlns:a16="http://schemas.microsoft.com/office/drawing/2014/main" id="{B5E88A19-3841-4012-9ADE-6DE70766BC8E}"/>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13</a:t>
            </a:r>
          </a:p>
        </p:txBody>
      </p:sp>
    </p:spTree>
    <p:extLst>
      <p:ext uri="{BB962C8B-B14F-4D97-AF65-F5344CB8AC3E}">
        <p14:creationId xmlns:p14="http://schemas.microsoft.com/office/powerpoint/2010/main" val="2126627187"/>
      </p:ext>
    </p:extLst>
  </p:cSld>
</p:sld>
</file>

<file path=ppt/slides/slide14.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39E6E1-8E8B-45FF-A3ED-9F635B8539F2}"/>
              </a:ext>
            </a:extLst>
          </p:cNvPr>
          <p:cNvSpPr>
            <a:spLocks xmlns:a="http://schemas.openxmlformats.org/drawingml/2006/main" noGrp="1"/>
          </p:cNvSpPr>
          <p:nvPr/>
        </p:nvSpPr>
        <p:spPr>
          <a:xfrm xmlns:a="http://schemas.openxmlformats.org/drawingml/2006/main">
            <a:off x="609600" y="400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9 JUL / RIDE 13 / BRUGES → COLOGNE</a:t>
            </a:r>
          </a:p>
        </p:txBody>
      </p:sp>
      <p:sp>
        <p:nvSpPr>
          <p:cNvPr id="2" name="">
            <a:extLst xmlns:a="http://schemas.openxmlformats.org/drawingml/2006/main">
              <a:ext uri="{FF2B5EF4-FFF2-40B4-BE49-F238E27FC236}">
                <a16:creationId xmlns:a16="http://schemas.microsoft.com/office/drawing/2014/main" id="{664D0812-AD5D-42D6-9D78-FB0827139C2C}"/>
              </a:ext>
            </a:extLst>
          </p:cNvPr>
          <p:cNvSpPr>
            <a:spLocks xmlns:a="http://schemas.openxmlformats.org/drawingml/2006/main" noGrp="1"/>
          </p:cNvSpPr>
          <p:nvPr/>
        </p:nvSpPr>
        <p:spPr>
          <a:xfrm xmlns:a="http://schemas.openxmlformats.org/drawingml/2006/main">
            <a:off x="609600" y="99060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65"/>
          </a:bodyPr>
          <a:lstStyle xmlns:a="http://schemas.openxmlformats.org/drawingml/2006/main"/>
          <a:p xmlns:a="http://schemas.openxmlformats.org/drawingml/2006/main">
            <a:pPr algn="l">
              <a:lnSpc>
                <a:spcPct val="98000"/>
              </a:lnSpc>
              <a:buNone/>
              <a:defRPr sz="7950" b="1" i="0">
                <a:solidFill>
                  <a:srgbClr val="FCF8F1"/>
                </a:solidFill>
                <a:latin typeface="DIN Condensed"/>
                <a:ea typeface="DIN Condensed"/>
                <a:cs typeface="DIN Condensed"/>
              </a:defRPr>
            </a:pPr>
            <a:r>
              <a:rPr sz="7950" b="1" i="0">
                <a:solidFill>
                  <a:srgbClr val="FCF8F1"/>
                </a:solidFill>
                <a:latin typeface="DIN Condensed"/>
                <a:ea typeface="DIN Condensed"/>
                <a:cs typeface="DIN Condensed"/>
              </a:rPr>
              <a:t>337.84</a:t>
            </a:r>
          </a:p>
        </p:txBody>
      </p:sp>
      <p:sp>
        <p:nvSpPr>
          <p:cNvPr id="3" name="">
            <a:extLst xmlns:a="http://schemas.openxmlformats.org/drawingml/2006/main">
              <a:ext uri="{FF2B5EF4-FFF2-40B4-BE49-F238E27FC236}">
                <a16:creationId xmlns:a16="http://schemas.microsoft.com/office/drawing/2014/main" id="{1AAD26DF-6AA7-4C26-990C-C1DB48CFB106}"/>
              </a:ext>
            </a:extLst>
          </p:cNvPr>
          <p:cNvSpPr>
            <a:spLocks xmlns:a="http://schemas.openxmlformats.org/drawingml/2006/main" noGrp="1"/>
          </p:cNvSpPr>
          <p:nvPr/>
        </p:nvSpPr>
        <p:spPr>
          <a:xfrm xmlns:a="http://schemas.openxmlformats.org/drawingml/2006/main">
            <a:off x="4629150" y="158115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550" b="1" i="0">
                <a:solidFill>
                  <a:srgbClr val="E26A2C"/>
                </a:solidFill>
                <a:latin typeface="DIN Condensed"/>
                <a:ea typeface="DIN Condensed"/>
                <a:cs typeface="DIN Condensed"/>
              </a:defRPr>
            </a:pPr>
            <a:r>
              <a:rPr sz="2550" b="1" i="0">
                <a:solidFill>
                  <a:srgbClr val="E26A2C"/>
                </a:solidFill>
                <a:latin typeface="DIN Condensed"/>
                <a:ea typeface="DIN Condensed"/>
                <a:cs typeface="DIN Condensed"/>
              </a:rPr>
              <a:t>KM</a:t>
            </a:r>
          </a:p>
        </p:txBody>
      </p:sp>
      <p:sp>
        <p:nvSpPr>
          <p:cNvPr id="4" name="">
            <a:extLst xmlns:a="http://schemas.openxmlformats.org/drawingml/2006/main">
              <a:ext uri="{FF2B5EF4-FFF2-40B4-BE49-F238E27FC236}">
                <a16:creationId xmlns:a16="http://schemas.microsoft.com/office/drawing/2014/main" id="{0DB42456-B09C-4CD7-9807-755A1D5B9588}"/>
              </a:ext>
            </a:extLst>
          </p:cNvPr>
          <p:cNvSpPr>
            <a:spLocks xmlns:a="http://schemas.openxmlformats.org/drawingml/2006/main" noGrp="1"/>
          </p:cNvSpPr>
          <p:nvPr/>
        </p:nvSpPr>
        <p:spPr>
          <a:xfrm xmlns:a="http://schemas.openxmlformats.org/drawingml/2006/main">
            <a:off x="666750" y="24003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950" b="1" i="0">
                <a:solidFill>
                  <a:srgbClr val="FCF8F1"/>
                </a:solidFill>
                <a:latin typeface="DIN Condensed"/>
                <a:ea typeface="DIN Condensed"/>
                <a:cs typeface="DIN Condensed"/>
              </a:defRPr>
            </a:pPr>
            <a:r>
              <a:rPr sz="1950" b="1" i="0">
                <a:solidFill>
                  <a:srgbClr val="FCF8F1"/>
                </a:solidFill>
                <a:latin typeface="DIN Condensed"/>
                <a:ea typeface="DIN Condensed"/>
                <a:cs typeface="DIN Condensed"/>
              </a:rPr>
              <a:t>BEFORE 06:00 → 23:30</a:t>
            </a:r>
          </a:p>
        </p:txBody>
      </p:sp>
      <p:sp>
        <p:nvSpPr>
          <p:cNvPr id="5" name="">
            <a:extLst xmlns:a="http://schemas.openxmlformats.org/drawingml/2006/main">
              <a:ext uri="{FF2B5EF4-FFF2-40B4-BE49-F238E27FC236}">
                <a16:creationId xmlns:a16="http://schemas.microsoft.com/office/drawing/2014/main" id="{D08F5397-05D0-4F95-89A9-306BA0042741}"/>
              </a:ext>
            </a:extLst>
          </p:cNvPr>
          <p:cNvSpPr>
            <a:spLocks xmlns:a="http://schemas.openxmlformats.org/drawingml/2006/main" noGrp="1"/>
          </p:cNvSpPr>
          <p:nvPr/>
        </p:nvSpPr>
        <p:spPr>
          <a:xfrm xmlns:a="http://schemas.openxmlformats.org/drawingml/2006/main">
            <a:off x="609600" y="3009900"/>
            <a:ext cx="4762500" cy="0"/>
          </a:xfrm>
          <a:prstGeom xmlns:a="http://schemas.openxmlformats.org/drawingml/2006/main" prst="line">
            <a:avLst/>
          </a:prstGeom>
          <a:noFill xmlns:a="http://schemas.openxmlformats.org/drawingml/2006/main"/>
          <a:ln xmlns:a="http://schemas.openxmlformats.org/drawingml/2006/main" w="9525">
            <a:solidFill>
              <a:srgbClr val="4D4B43"/>
            </a:solidFill>
            <a:prstDash val="solid"/>
          </a:ln>
        </p:spPr>
      </p:sp>
      <p:sp>
        <p:nvSpPr>
          <p:cNvPr id="6" name="">
            <a:extLst xmlns:a="http://schemas.openxmlformats.org/drawingml/2006/main">
              <a:ext uri="{FF2B5EF4-FFF2-40B4-BE49-F238E27FC236}">
                <a16:creationId xmlns:a16="http://schemas.microsoft.com/office/drawing/2014/main" id="{71E7BB19-502C-434B-B6C6-7454C2B61A64}"/>
              </a:ext>
            </a:extLst>
          </p:cNvPr>
          <p:cNvSpPr>
            <a:spLocks xmlns:a="http://schemas.openxmlformats.org/drawingml/2006/main" noGrp="1"/>
          </p:cNvSpPr>
          <p:nvPr/>
        </p:nvSpPr>
        <p:spPr>
          <a:xfrm xmlns:a="http://schemas.openxmlformats.org/drawingml/2006/main">
            <a:off x="647700" y="3352800"/>
            <a:ext cx="4762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Canadian cemetery</a:t>
            </a:r>
          </a:p>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Sint-Anna tunnel, 31 m underground</a:t>
            </a:r>
          </a:p>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Belgium → Netherlands → Germany</a:t>
            </a:r>
          </a:p>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Phone flashlight after dark</a:t>
            </a:r>
          </a:p>
        </p:txBody>
      </p:sp>
      <p:sp>
        <p:nvSpPr>
          <p:cNvPr id="7" name="">
            <a:extLst xmlns:a="http://schemas.openxmlformats.org/drawingml/2006/main">
              <a:ext uri="{FF2B5EF4-FFF2-40B4-BE49-F238E27FC236}">
                <a16:creationId xmlns:a16="http://schemas.microsoft.com/office/drawing/2014/main" id="{D2CABA52-9C6D-498F-8D41-221C4847D144}"/>
              </a:ext>
            </a:extLst>
          </p:cNvPr>
          <p:cNvSpPr>
            <a:spLocks xmlns:a="http://schemas.openxmlformats.org/drawingml/2006/main" noGrp="1"/>
          </p:cNvSpPr>
          <p:nvPr/>
        </p:nvSpPr>
        <p:spPr>
          <a:xfrm xmlns:a="http://schemas.openxmlformats.org/drawingml/2006/main">
            <a:off x="647700" y="55435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950" b="0" i="1">
                <a:solidFill>
                  <a:srgbClr val="E26A2C"/>
                </a:solidFill>
                <a:latin typeface="Georgia"/>
                <a:ea typeface="Georgia"/>
                <a:cs typeface="Georgia"/>
              </a:defRPr>
            </a:pPr>
            <a:r>
              <a:rPr sz="1950" b="0" i="1">
                <a:solidFill>
                  <a:srgbClr val="E26A2C"/>
                </a:solidFill>
                <a:latin typeface="Georgia"/>
                <a:ea typeface="Georgia"/>
                <a:cs typeface="Georgia"/>
              </a:rPr>
              <a:t>Longest day I had ever ridden.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02dfe61c47347a4"/>
          <a:srcRect xmlns:a="http://schemas.openxmlformats.org/drawingml/2006/main" l="0" t="1070" r="0" b="1070"/>
          <a:stretch xmlns:a="http://schemas.openxmlformats.org/drawingml/2006/main">
            <a:fillRect l="0" t="0" r="0" b="0"/>
          </a:stretch>
        </p:blipFill>
        <p:spPr>
          <a:xfrm xmlns:a="http://schemas.openxmlformats.org/drawingml/2006/main">
            <a:off x="5962650" y="0"/>
            <a:ext cx="6229350" cy="3429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a1d46942e4840d9"/>
          <a:srcRect xmlns:a="http://schemas.openxmlformats.org/drawingml/2006/main" l="0" t="1070" r="0" b="1070"/>
          <a:stretch xmlns:a="http://schemas.openxmlformats.org/drawingml/2006/main">
            <a:fillRect l="0" t="0" r="0" b="0"/>
          </a:stretch>
        </p:blipFill>
        <p:spPr>
          <a:xfrm xmlns:a="http://schemas.openxmlformats.org/drawingml/2006/main">
            <a:off x="5962650" y="3429000"/>
            <a:ext cx="6229350" cy="3429000"/>
          </a:xfrm>
          <a:prstGeom xmlns:a="http://schemas.openxmlformats.org/drawingml/2006/main" prst="rect">
            <a:avLst/>
          </a:prstGeom>
        </p:spPr>
      </p:pic>
    </p:spTree>
    <p:extLst>
      <p:ext uri="{BB962C8B-B14F-4D97-AF65-F5344CB8AC3E}">
        <p14:creationId xmlns:p14="http://schemas.microsoft.com/office/powerpoint/2010/main" val="349866307"/>
      </p:ext>
    </p:extLst>
  </p:cSld>
</p:sld>
</file>

<file path=ppt/slides/slide15.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64097C7-EEB9-4B53-9CB6-F495059AB18B}"/>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10 JULY / RIDE 14</a:t>
            </a:r>
          </a:p>
        </p:txBody>
      </p:sp>
      <p:sp>
        <p:nvSpPr>
          <p:cNvPr id="2" name="">
            <a:extLst xmlns:a="http://schemas.openxmlformats.org/drawingml/2006/main">
              <a:ext uri="{FF2B5EF4-FFF2-40B4-BE49-F238E27FC236}">
                <a16:creationId xmlns:a16="http://schemas.microsoft.com/office/drawing/2014/main" id="{ED9201C7-4BB3-44F2-95D8-616A0B83870C}"/>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THE FINAL DAY</a:t>
            </a:r>
          </a:p>
        </p:txBody>
      </p:sp>
      <p:sp>
        <p:nvSpPr>
          <p:cNvPr id="3" name="">
            <a:extLst xmlns:a="http://schemas.openxmlformats.org/drawingml/2006/main">
              <a:ext uri="{FF2B5EF4-FFF2-40B4-BE49-F238E27FC236}">
                <a16:creationId xmlns:a16="http://schemas.microsoft.com/office/drawing/2014/main" id="{DBB228F8-F6B2-42F4-B9FE-D92258F7D517}"/>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EA17B6D2-E06C-41F2-A5BA-08CA318C6B52}"/>
              </a:ext>
            </a:extLst>
          </p:cNvPr>
          <p:cNvSpPr>
            <a:spLocks xmlns:a="http://schemas.openxmlformats.org/drawingml/2006/main" noGrp="1"/>
          </p:cNvSpPr>
          <p:nvPr/>
        </p:nvSpPr>
        <p:spPr>
          <a:xfrm xmlns:a="http://schemas.openxmlformats.org/drawingml/2006/main">
            <a:off x="609600" y="87630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39"/>
          </a:bodyPr>
          <a:lstStyle xmlns:a="http://schemas.openxmlformats.org/drawingml/2006/main"/>
          <a:p xmlns:a="http://schemas.openxmlformats.org/drawingml/2006/main">
            <a:pPr algn="l">
              <a:lnSpc>
                <a:spcPct val="98000"/>
              </a:lnSpc>
              <a:buNone/>
              <a:defRPr sz="3750" b="1" i="0">
                <a:solidFill>
                  <a:srgbClr val="1B1A16"/>
                </a:solidFill>
                <a:latin typeface="DIN Condensed"/>
                <a:ea typeface="DIN Condensed"/>
                <a:cs typeface="DIN Condensed"/>
              </a:defRPr>
            </a:pPr>
            <a:r>
              <a:rPr sz="3750" b="1" i="0">
                <a:solidFill>
                  <a:srgbClr val="1B1A16"/>
                </a:solidFill>
                <a:latin typeface="DIN Condensed"/>
                <a:ea typeface="DIN Condensed"/>
                <a:cs typeface="DIN Condensed"/>
              </a:rPr>
              <a:t>270.42 KM HOME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b94d1e85e554294"/>
          <a:srcRect xmlns:a="http://schemas.openxmlformats.org/drawingml/2006/main" l="3466" t="0" r="3466" b="0"/>
          <a:stretch xmlns:a="http://schemas.openxmlformats.org/drawingml/2006/main">
            <a:fillRect l="0" t="0" r="0" b="0"/>
          </a:stretch>
        </p:blipFill>
        <p:spPr>
          <a:xfrm xmlns:a="http://schemas.openxmlformats.org/drawingml/2006/main">
            <a:off x="609600" y="1752600"/>
            <a:ext cx="3467100" cy="20955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da4edbdc532414c"/>
          <a:srcRect xmlns:a="http://schemas.openxmlformats.org/drawingml/2006/main" l="0" t="183" r="0" b="183"/>
          <a:stretch xmlns:a="http://schemas.openxmlformats.org/drawingml/2006/main">
            <a:fillRect l="0" t="0" r="0" b="0"/>
          </a:stretch>
        </p:blipFill>
        <p:spPr>
          <a:xfrm xmlns:a="http://schemas.openxmlformats.org/drawingml/2006/main">
            <a:off x="609600" y="4057650"/>
            <a:ext cx="3467100" cy="19431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cdf18ae8b554463"/>
          <a:srcRect xmlns:a="http://schemas.openxmlformats.org/drawingml/2006/main" l="0" t="3081" r="0" b="3081"/>
          <a:stretch xmlns:a="http://schemas.openxmlformats.org/drawingml/2006/main">
            <a:fillRect l="0" t="0" r="0" b="0"/>
          </a:stretch>
        </p:blipFill>
        <p:spPr>
          <a:xfrm xmlns:a="http://schemas.openxmlformats.org/drawingml/2006/main">
            <a:off x="4362450" y="876300"/>
            <a:ext cx="4095750" cy="5124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FE92E59-FE44-4B80-9DB0-C9D9A968A260}"/>
              </a:ext>
            </a:extLst>
          </p:cNvPr>
          <p:cNvSpPr>
            <a:spLocks xmlns:a="http://schemas.openxmlformats.org/drawingml/2006/main" noGrp="1"/>
          </p:cNvSpPr>
          <p:nvPr/>
        </p:nvSpPr>
        <p:spPr>
          <a:xfrm xmlns:a="http://schemas.openxmlformats.org/drawingml/2006/main">
            <a:off x="8763000" y="876300"/>
            <a:ext cx="2819400" cy="5124450"/>
          </a:xfrm>
          <a:prstGeom xmlns:a="http://schemas.openxmlformats.org/drawingml/2006/main" prst="roundRect">
            <a:avLst>
              <a:gd name="adj" fmla="val 5405"/>
            </a:avLst>
          </a:prstGeom>
          <a:solidFill xmlns:a="http://schemas.openxmlformats.org/drawingml/2006/main">
            <a:srgbClr val="18181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30D176-FE74-4194-BDDE-2337DA219B6E}"/>
              </a:ext>
            </a:extLst>
          </p:cNvPr>
          <p:cNvSpPr>
            <a:spLocks xmlns:a="http://schemas.openxmlformats.org/drawingml/2006/main" noGrp="1"/>
          </p:cNvSpPr>
          <p:nvPr/>
        </p:nvSpPr>
        <p:spPr>
          <a:xfrm xmlns:a="http://schemas.openxmlformats.org/drawingml/2006/main">
            <a:off x="9048750" y="12192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COLOGNE</a:t>
            </a:r>
          </a:p>
        </p:txBody>
      </p:sp>
      <p:sp>
        <p:nvSpPr>
          <p:cNvPr id="10" name="">
            <a:extLst xmlns:a="http://schemas.openxmlformats.org/drawingml/2006/main">
              <a:ext uri="{FF2B5EF4-FFF2-40B4-BE49-F238E27FC236}">
                <a16:creationId xmlns:a16="http://schemas.microsoft.com/office/drawing/2014/main" id="{D03B04B1-0B3C-4E58-96E5-DAB39420BBF8}"/>
              </a:ext>
            </a:extLst>
          </p:cNvPr>
          <p:cNvSpPr>
            <a:spLocks xmlns:a="http://schemas.openxmlformats.org/drawingml/2006/main" noGrp="1"/>
          </p:cNvSpPr>
          <p:nvPr/>
        </p:nvSpPr>
        <p:spPr>
          <a:xfrm xmlns:a="http://schemas.openxmlformats.org/drawingml/2006/main">
            <a:off x="9048750" y="160020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Cathedral before the city woke.</a:t>
            </a:r>
          </a:p>
        </p:txBody>
      </p:sp>
      <p:sp>
        <p:nvSpPr>
          <p:cNvPr id="11" name="">
            <a:extLst xmlns:a="http://schemas.openxmlformats.org/drawingml/2006/main">
              <a:ext uri="{FF2B5EF4-FFF2-40B4-BE49-F238E27FC236}">
                <a16:creationId xmlns:a16="http://schemas.microsoft.com/office/drawing/2014/main" id="{90183A28-7A1E-44A9-B32A-48D54759B1A3}"/>
              </a:ext>
            </a:extLst>
          </p:cNvPr>
          <p:cNvSpPr>
            <a:spLocks xmlns:a="http://schemas.openxmlformats.org/drawingml/2006/main" noGrp="1"/>
          </p:cNvSpPr>
          <p:nvPr/>
        </p:nvSpPr>
        <p:spPr>
          <a:xfrm xmlns:a="http://schemas.openxmlformats.org/drawingml/2006/main">
            <a:off x="9048750" y="26670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BONN + RHINE</a:t>
            </a:r>
          </a:p>
        </p:txBody>
      </p:sp>
      <p:sp>
        <p:nvSpPr>
          <p:cNvPr id="12" name="">
            <a:extLst xmlns:a="http://schemas.openxmlformats.org/drawingml/2006/main">
              <a:ext uri="{FF2B5EF4-FFF2-40B4-BE49-F238E27FC236}">
                <a16:creationId xmlns:a16="http://schemas.microsoft.com/office/drawing/2014/main" id="{0A441F8F-D6AF-4B8C-9849-4CA07754FFBD}"/>
              </a:ext>
            </a:extLst>
          </p:cNvPr>
          <p:cNvSpPr>
            <a:spLocks xmlns:a="http://schemas.openxmlformats.org/drawingml/2006/main" noGrp="1"/>
          </p:cNvSpPr>
          <p:nvPr/>
        </p:nvSpPr>
        <p:spPr>
          <a:xfrm xmlns:a="http://schemas.openxmlformats.org/drawingml/2006/main">
            <a:off x="9048750" y="304800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Dead legs, familiar river, last crossing.</a:t>
            </a:r>
          </a:p>
        </p:txBody>
      </p:sp>
      <p:sp>
        <p:nvSpPr>
          <p:cNvPr id="13" name="">
            <a:extLst xmlns:a="http://schemas.openxmlformats.org/drawingml/2006/main">
              <a:ext uri="{FF2B5EF4-FFF2-40B4-BE49-F238E27FC236}">
                <a16:creationId xmlns:a16="http://schemas.microsoft.com/office/drawing/2014/main" id="{F57A6459-F8F6-469A-A0BA-4ECAB4215D69}"/>
              </a:ext>
            </a:extLst>
          </p:cNvPr>
          <p:cNvSpPr>
            <a:spLocks xmlns:a="http://schemas.openxmlformats.org/drawingml/2006/main" noGrp="1"/>
          </p:cNvSpPr>
          <p:nvPr/>
        </p:nvSpPr>
        <p:spPr>
          <a:xfrm xmlns:a="http://schemas.openxmlformats.org/drawingml/2006/main">
            <a:off x="9048750" y="41148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AFTER 23:00</a:t>
            </a:r>
          </a:p>
        </p:txBody>
      </p:sp>
      <p:sp>
        <p:nvSpPr>
          <p:cNvPr id="14" name="">
            <a:extLst xmlns:a="http://schemas.openxmlformats.org/drawingml/2006/main">
              <a:ext uri="{FF2B5EF4-FFF2-40B4-BE49-F238E27FC236}">
                <a16:creationId xmlns:a16="http://schemas.microsoft.com/office/drawing/2014/main" id="{DF275701-EF9C-4AFD-AFB7-4E50C912C3CE}"/>
              </a:ext>
            </a:extLst>
          </p:cNvPr>
          <p:cNvSpPr>
            <a:spLocks xmlns:a="http://schemas.openxmlformats.org/drawingml/2006/main" noGrp="1"/>
          </p:cNvSpPr>
          <p:nvPr/>
        </p:nvSpPr>
        <p:spPr>
          <a:xfrm xmlns:a="http://schemas.openxmlformats.org/drawingml/2006/main">
            <a:off x="9048750" y="4495800"/>
            <a:ext cx="2247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My family tracked the phone and waited in the driveway.</a:t>
            </a:r>
          </a:p>
        </p:txBody>
      </p:sp>
      <p:sp>
        <p:nvSpPr>
          <p:cNvPr id="15" name="">
            <a:extLst xmlns:a="http://schemas.openxmlformats.org/drawingml/2006/main">
              <a:ext uri="{FF2B5EF4-FFF2-40B4-BE49-F238E27FC236}">
                <a16:creationId xmlns:a16="http://schemas.microsoft.com/office/drawing/2014/main" id="{42706BE7-1625-4C16-9B8B-09DB435B5788}"/>
              </a:ext>
            </a:extLst>
          </p:cNvPr>
          <p:cNvSpPr>
            <a:spLocks xmlns:a="http://schemas.openxmlformats.org/drawingml/2006/main" noGrp="1"/>
          </p:cNvSpPr>
          <p:nvPr/>
        </p:nvSpPr>
        <p:spPr>
          <a:xfrm xmlns:a="http://schemas.openxmlformats.org/drawingml/2006/main">
            <a:off x="9048750" y="556260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608.26 KM / FINAL 2 DAYS</a:t>
            </a:r>
          </a:p>
        </p:txBody>
      </p:sp>
      <p:sp>
        <p:nvSpPr>
          <p:cNvPr id="16" name="">
            <a:extLst xmlns:a="http://schemas.openxmlformats.org/drawingml/2006/main">
              <a:ext uri="{FF2B5EF4-FFF2-40B4-BE49-F238E27FC236}">
                <a16:creationId xmlns:a16="http://schemas.microsoft.com/office/drawing/2014/main" id="{6A38562B-1AC8-459C-BCDC-2400346DE3EE}"/>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7" name="">
            <a:extLst xmlns:a="http://schemas.openxmlformats.org/drawingml/2006/main">
              <a:ext uri="{FF2B5EF4-FFF2-40B4-BE49-F238E27FC236}">
                <a16:creationId xmlns:a16="http://schemas.microsoft.com/office/drawing/2014/main" id="{0A3DA37B-AB6F-4A6D-96EF-4BD1D7C098DD}"/>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15</a:t>
            </a:r>
          </a:p>
        </p:txBody>
      </p:sp>
    </p:spTree>
    <p:extLst>
      <p:ext uri="{BB962C8B-B14F-4D97-AF65-F5344CB8AC3E}">
        <p14:creationId xmlns:p14="http://schemas.microsoft.com/office/powerpoint/2010/main" val="2028537380"/>
      </p:ext>
    </p:extLst>
  </p:cSld>
</p:sld>
</file>

<file path=ppt/slides/slide16.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fb09fef144b4db4"/>
          <a:srcRect xmlns:a="http://schemas.openxmlformats.org/drawingml/2006/main" l="5556" t="0" r="5556" b="0"/>
          <a:stretch xmlns:a="http://schemas.openxmlformats.org/drawingml/2006/main">
            <a:fillRect l="0" t="0" r="0" b="0"/>
          </a:stretch>
        </p:blipFill>
        <p:spPr>
          <a:xfrm xmlns:a="http://schemas.openxmlformats.org/drawingml/2006/main">
            <a:off x="0" y="0"/>
            <a:ext cx="457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D0E5A0-AB27-4C01-8BA5-095AD932C98C}"/>
              </a:ext>
            </a:extLst>
          </p:cNvPr>
          <p:cNvSpPr>
            <a:spLocks xmlns:a="http://schemas.openxmlformats.org/drawingml/2006/main" noGrp="1"/>
          </p:cNvSpPr>
          <p:nvPr/>
        </p:nvSpPr>
        <p:spPr>
          <a:xfrm xmlns:a="http://schemas.openxmlformats.org/drawingml/2006/main">
            <a:off x="4572000" y="0"/>
            <a:ext cx="152400" cy="6858000"/>
          </a:xfrm>
          <a:prstGeom xmlns:a="http://schemas.openxmlformats.org/drawingml/2006/main" prst="rect">
            <a:avLst/>
          </a:prstGeom>
          <a:solidFill xmlns:a="http://schemas.openxmlformats.org/drawingml/2006/main">
            <a:srgbClr val="B43B2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81E45E-0508-4882-AC77-25F797023F05}"/>
              </a:ext>
            </a:extLst>
          </p:cNvPr>
          <p:cNvSpPr>
            <a:spLocks xmlns:a="http://schemas.openxmlformats.org/drawingml/2006/main" noGrp="1"/>
          </p:cNvSpPr>
          <p:nvPr/>
        </p:nvSpPr>
        <p:spPr>
          <a:xfrm xmlns:a="http://schemas.openxmlformats.org/drawingml/2006/main">
            <a:off x="5238750" y="4572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10 JUL 2026 / DAILY NOTE</a:t>
            </a:r>
          </a:p>
        </p:txBody>
      </p:sp>
      <p:sp>
        <p:nvSpPr>
          <p:cNvPr id="4" name="">
            <a:extLst xmlns:a="http://schemas.openxmlformats.org/drawingml/2006/main">
              <a:ext uri="{FF2B5EF4-FFF2-40B4-BE49-F238E27FC236}">
                <a16:creationId xmlns:a16="http://schemas.microsoft.com/office/drawing/2014/main" id="{33EABEE8-364D-4224-829D-ADAA17C0780B}"/>
              </a:ext>
            </a:extLst>
          </p:cNvPr>
          <p:cNvSpPr>
            <a:spLocks xmlns:a="http://schemas.openxmlformats.org/drawingml/2006/main" noGrp="1"/>
          </p:cNvSpPr>
          <p:nvPr/>
        </p:nvSpPr>
        <p:spPr>
          <a:xfrm xmlns:a="http://schemas.openxmlformats.org/drawingml/2006/main">
            <a:off x="5238750" y="1104900"/>
            <a:ext cx="6191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2000"/>
              </a:lnSpc>
              <a:buNone/>
              <a:defRPr sz="5400" b="1" i="0">
                <a:solidFill>
                  <a:srgbClr val="1B1A16"/>
                </a:solidFill>
                <a:latin typeface="DIN Condensed"/>
                <a:ea typeface="DIN Condensed"/>
                <a:cs typeface="DIN Condensed"/>
              </a:defRPr>
            </a:pPr>
            <a:r>
              <a:rPr sz="5400" b="1" i="0">
                <a:solidFill>
                  <a:srgbClr val="1B1A16"/>
                </a:solidFill>
                <a:latin typeface="DIN Condensed"/>
                <a:ea typeface="DIN Condensed"/>
                <a:cs typeface="DIN Condensed"/>
              </a:rPr>
              <a:t>I LOVE LIFE</a:t>
            </a:r>
          </a:p>
          <a:p xmlns:a="http://schemas.openxmlformats.org/drawingml/2006/main">
            <a:pPr algn="l">
              <a:lnSpc>
                <a:spcPct val="82000"/>
              </a:lnSpc>
              <a:buNone/>
              <a:defRPr sz="5400" b="1" i="0">
                <a:solidFill>
                  <a:srgbClr val="1B1A16"/>
                </a:solidFill>
                <a:latin typeface="DIN Condensed"/>
                <a:ea typeface="DIN Condensed"/>
                <a:cs typeface="DIN Condensed"/>
              </a:defRPr>
            </a:pPr>
            <a:r>
              <a:rPr sz="5400" b="1" i="0">
                <a:solidFill>
                  <a:srgbClr val="1B1A16"/>
                </a:solidFill>
                <a:latin typeface="DIN Condensed"/>
                <a:ea typeface="DIN Condensed"/>
                <a:cs typeface="DIN Condensed"/>
              </a:rPr>
              <a:t>SO MUCH</a:t>
            </a:r>
          </a:p>
        </p:txBody>
      </p:sp>
      <p:sp>
        <p:nvSpPr>
          <p:cNvPr id="5" name="">
            <a:extLst xmlns:a="http://schemas.openxmlformats.org/drawingml/2006/main">
              <a:ext uri="{FF2B5EF4-FFF2-40B4-BE49-F238E27FC236}">
                <a16:creationId xmlns:a16="http://schemas.microsoft.com/office/drawing/2014/main" id="{759AA8A4-62F8-4A50-BED0-DA0971E650F0}"/>
              </a:ext>
            </a:extLst>
          </p:cNvPr>
          <p:cNvSpPr>
            <a:spLocks xmlns:a="http://schemas.openxmlformats.org/drawingml/2006/main" noGrp="1"/>
          </p:cNvSpPr>
          <p:nvPr/>
        </p:nvSpPr>
        <p:spPr>
          <a:xfrm xmlns:a="http://schemas.openxmlformats.org/drawingml/2006/main">
            <a:off x="5238750" y="3067050"/>
            <a:ext cx="57150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6" name="">
            <a:extLst xmlns:a="http://schemas.openxmlformats.org/drawingml/2006/main">
              <a:ext uri="{FF2B5EF4-FFF2-40B4-BE49-F238E27FC236}">
                <a16:creationId xmlns:a16="http://schemas.microsoft.com/office/drawing/2014/main" id="{9EB42838-72A9-4472-AA74-FC791B761EF7}"/>
              </a:ext>
            </a:extLst>
          </p:cNvPr>
          <p:cNvSpPr>
            <a:spLocks xmlns:a="http://schemas.openxmlformats.org/drawingml/2006/main" noGrp="1"/>
          </p:cNvSpPr>
          <p:nvPr/>
        </p:nvSpPr>
        <p:spPr>
          <a:xfrm xmlns:a="http://schemas.openxmlformats.org/drawingml/2006/main">
            <a:off x="5238750" y="34099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B43B2D"/>
                </a:solidFill>
                <a:latin typeface="DIN Condensed"/>
                <a:ea typeface="DIN Condensed"/>
                <a:cs typeface="DIN Condensed"/>
              </a:defRPr>
            </a:pPr>
            <a:r>
              <a:rPr sz="1650" b="1" i="0">
                <a:solidFill>
                  <a:srgbClr val="B43B2D"/>
                </a:solidFill>
                <a:latin typeface="DIN Condensed"/>
                <a:ea typeface="DIN Condensed"/>
                <a:cs typeface="DIN Condensed"/>
              </a:rPr>
              <a:t>Zahran</a:t>
            </a:r>
          </a:p>
        </p:txBody>
      </p:sp>
      <p:sp>
        <p:nvSpPr>
          <p:cNvPr id="7" name="">
            <a:extLst xmlns:a="http://schemas.openxmlformats.org/drawingml/2006/main">
              <a:ext uri="{FF2B5EF4-FFF2-40B4-BE49-F238E27FC236}">
                <a16:creationId xmlns:a16="http://schemas.microsoft.com/office/drawing/2014/main" id="{BFECD9BB-DE47-45BE-A6BB-CCBC37D6DFDC}"/>
              </a:ext>
            </a:extLst>
          </p:cNvPr>
          <p:cNvSpPr>
            <a:spLocks xmlns:a="http://schemas.openxmlformats.org/drawingml/2006/main" noGrp="1"/>
          </p:cNvSpPr>
          <p:nvPr/>
        </p:nvSpPr>
        <p:spPr>
          <a:xfrm xmlns:a="http://schemas.openxmlformats.org/drawingml/2006/main">
            <a:off x="6762750" y="3409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a balcony</a:t>
            </a:r>
          </a:p>
        </p:txBody>
      </p:sp>
      <p:sp>
        <p:nvSpPr>
          <p:cNvPr id="8" name="">
            <a:extLst xmlns:a="http://schemas.openxmlformats.org/drawingml/2006/main">
              <a:ext uri="{FF2B5EF4-FFF2-40B4-BE49-F238E27FC236}">
                <a16:creationId xmlns:a16="http://schemas.microsoft.com/office/drawing/2014/main" id="{83DA26A5-0668-4889-A792-A5CF4519630E}"/>
              </a:ext>
            </a:extLst>
          </p:cNvPr>
          <p:cNvSpPr>
            <a:spLocks xmlns:a="http://schemas.openxmlformats.org/drawingml/2006/main" noGrp="1"/>
          </p:cNvSpPr>
          <p:nvPr/>
        </p:nvSpPr>
        <p:spPr>
          <a:xfrm xmlns:a="http://schemas.openxmlformats.org/drawingml/2006/main">
            <a:off x="5238750" y="3848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B43B2D"/>
                </a:solidFill>
                <a:latin typeface="DIN Condensed"/>
                <a:ea typeface="DIN Condensed"/>
                <a:cs typeface="DIN Condensed"/>
              </a:defRPr>
            </a:pPr>
            <a:r>
              <a:rPr sz="1650" b="1" i="0">
                <a:solidFill>
                  <a:srgbClr val="B43B2D"/>
                </a:solidFill>
                <a:latin typeface="DIN Condensed"/>
                <a:ea typeface="DIN Condensed"/>
                <a:cs typeface="DIN Condensed"/>
              </a:rPr>
              <a:t>My cousin</a:t>
            </a:r>
          </a:p>
        </p:txBody>
      </p:sp>
      <p:sp>
        <p:nvSpPr>
          <p:cNvPr id="9" name="">
            <a:extLst xmlns:a="http://schemas.openxmlformats.org/drawingml/2006/main">
              <a:ext uri="{FF2B5EF4-FFF2-40B4-BE49-F238E27FC236}">
                <a16:creationId xmlns:a16="http://schemas.microsoft.com/office/drawing/2014/main" id="{B2047018-F02D-41FC-855B-3762669265F1}"/>
              </a:ext>
            </a:extLst>
          </p:cNvPr>
          <p:cNvSpPr>
            <a:spLocks xmlns:a="http://schemas.openxmlformats.org/drawingml/2006/main" noGrp="1"/>
          </p:cNvSpPr>
          <p:nvPr/>
        </p:nvSpPr>
        <p:spPr>
          <a:xfrm xmlns:a="http://schemas.openxmlformats.org/drawingml/2006/main">
            <a:off x="6762750" y="3848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the €180 transfer</a:t>
            </a:r>
          </a:p>
        </p:txBody>
      </p:sp>
      <p:sp>
        <p:nvSpPr>
          <p:cNvPr id="10" name="">
            <a:extLst xmlns:a="http://schemas.openxmlformats.org/drawingml/2006/main">
              <a:ext uri="{FF2B5EF4-FFF2-40B4-BE49-F238E27FC236}">
                <a16:creationId xmlns:a16="http://schemas.microsoft.com/office/drawing/2014/main" id="{3FC18AD4-861C-4029-91B6-E6370C7D4356}"/>
              </a:ext>
            </a:extLst>
          </p:cNvPr>
          <p:cNvSpPr>
            <a:spLocks xmlns:a="http://schemas.openxmlformats.org/drawingml/2006/main" noGrp="1"/>
          </p:cNvSpPr>
          <p:nvPr/>
        </p:nvSpPr>
        <p:spPr>
          <a:xfrm xmlns:a="http://schemas.openxmlformats.org/drawingml/2006/main">
            <a:off x="5238750" y="42862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B43B2D"/>
                </a:solidFill>
                <a:latin typeface="DIN Condensed"/>
                <a:ea typeface="DIN Condensed"/>
                <a:cs typeface="DIN Condensed"/>
              </a:defRPr>
            </a:pPr>
            <a:r>
              <a:rPr sz="1500" b="1" i="0">
                <a:solidFill>
                  <a:srgbClr val="B43B2D"/>
                </a:solidFill>
                <a:latin typeface="DIN Condensed"/>
                <a:ea typeface="DIN Condensed"/>
                <a:cs typeface="DIN Condensed"/>
              </a:rPr>
              <a:t>Olivier + Anton</a:t>
            </a:r>
          </a:p>
        </p:txBody>
      </p:sp>
      <p:sp>
        <p:nvSpPr>
          <p:cNvPr id="11" name="">
            <a:extLst xmlns:a="http://schemas.openxmlformats.org/drawingml/2006/main">
              <a:ext uri="{FF2B5EF4-FFF2-40B4-BE49-F238E27FC236}">
                <a16:creationId xmlns:a16="http://schemas.microsoft.com/office/drawing/2014/main" id="{07D8C45C-0E35-46B0-B713-9E56AAE3F888}"/>
              </a:ext>
            </a:extLst>
          </p:cNvPr>
          <p:cNvSpPr>
            <a:spLocks xmlns:a="http://schemas.openxmlformats.org/drawingml/2006/main" noGrp="1"/>
          </p:cNvSpPr>
          <p:nvPr/>
        </p:nvSpPr>
        <p:spPr>
          <a:xfrm xmlns:a="http://schemas.openxmlformats.org/drawingml/2006/main">
            <a:off x="6762750" y="42862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the tyre, labour, and tools</a:t>
            </a:r>
          </a:p>
        </p:txBody>
      </p:sp>
      <p:sp>
        <p:nvSpPr>
          <p:cNvPr id="12" name="">
            <a:extLst xmlns:a="http://schemas.openxmlformats.org/drawingml/2006/main">
              <a:ext uri="{FF2B5EF4-FFF2-40B4-BE49-F238E27FC236}">
                <a16:creationId xmlns:a16="http://schemas.microsoft.com/office/drawing/2014/main" id="{19C9A3E6-4986-406F-A750-7093610B79A4}"/>
              </a:ext>
            </a:extLst>
          </p:cNvPr>
          <p:cNvSpPr>
            <a:spLocks xmlns:a="http://schemas.openxmlformats.org/drawingml/2006/main" noGrp="1"/>
          </p:cNvSpPr>
          <p:nvPr/>
        </p:nvSpPr>
        <p:spPr>
          <a:xfrm xmlns:a="http://schemas.openxmlformats.org/drawingml/2006/main">
            <a:off x="5238750" y="4800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B43B2D"/>
                </a:solidFill>
                <a:latin typeface="DIN Condensed"/>
                <a:ea typeface="DIN Condensed"/>
                <a:cs typeface="DIN Condensed"/>
              </a:defRPr>
            </a:pPr>
            <a:r>
              <a:rPr sz="1500" b="1" i="0">
                <a:solidFill>
                  <a:srgbClr val="B43B2D"/>
                </a:solidFill>
                <a:latin typeface="DIN Condensed"/>
                <a:ea typeface="DIN Condensed"/>
                <a:cs typeface="DIN Condensed"/>
              </a:rPr>
              <a:t>My aunt + Jean-Luc</a:t>
            </a:r>
          </a:p>
        </p:txBody>
      </p:sp>
      <p:sp>
        <p:nvSpPr>
          <p:cNvPr id="13" name="">
            <a:extLst xmlns:a="http://schemas.openxmlformats.org/drawingml/2006/main">
              <a:ext uri="{FF2B5EF4-FFF2-40B4-BE49-F238E27FC236}">
                <a16:creationId xmlns:a16="http://schemas.microsoft.com/office/drawing/2014/main" id="{017E51BE-0CD6-4177-B2D6-9A2D56A4059F}"/>
              </a:ext>
            </a:extLst>
          </p:cNvPr>
          <p:cNvSpPr>
            <a:spLocks xmlns:a="http://schemas.openxmlformats.org/drawingml/2006/main" noGrp="1"/>
          </p:cNvSpPr>
          <p:nvPr/>
        </p:nvSpPr>
        <p:spPr>
          <a:xfrm xmlns:a="http://schemas.openxmlformats.org/drawingml/2006/main">
            <a:off x="7105650" y="48006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food, rooms, and time</a:t>
            </a:r>
          </a:p>
        </p:txBody>
      </p:sp>
      <p:sp>
        <p:nvSpPr>
          <p:cNvPr id="14" name="">
            <a:extLst xmlns:a="http://schemas.openxmlformats.org/drawingml/2006/main">
              <a:ext uri="{FF2B5EF4-FFF2-40B4-BE49-F238E27FC236}">
                <a16:creationId xmlns:a16="http://schemas.microsoft.com/office/drawing/2014/main" id="{25A2AD91-14C6-4B94-A8BF-F066822539D0}"/>
              </a:ext>
            </a:extLst>
          </p:cNvPr>
          <p:cNvSpPr>
            <a:spLocks xmlns:a="http://schemas.openxmlformats.org/drawingml/2006/main" noGrp="1"/>
          </p:cNvSpPr>
          <p:nvPr/>
        </p:nvSpPr>
        <p:spPr>
          <a:xfrm xmlns:a="http://schemas.openxmlformats.org/drawingml/2006/main">
            <a:off x="5238750" y="5276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B43B2D"/>
                </a:solidFill>
                <a:latin typeface="DIN Condensed"/>
                <a:ea typeface="DIN Condensed"/>
                <a:cs typeface="DIN Condensed"/>
              </a:defRPr>
            </a:pPr>
            <a:r>
              <a:rPr sz="1650" b="1" i="0">
                <a:solidFill>
                  <a:srgbClr val="B43B2D"/>
                </a:solidFill>
                <a:latin typeface="DIN Condensed"/>
                <a:ea typeface="DIN Condensed"/>
                <a:cs typeface="DIN Condensed"/>
              </a:rPr>
              <a:t>Family</a:t>
            </a:r>
          </a:p>
        </p:txBody>
      </p:sp>
      <p:sp>
        <p:nvSpPr>
          <p:cNvPr id="15" name="">
            <a:extLst xmlns:a="http://schemas.openxmlformats.org/drawingml/2006/main">
              <a:ext uri="{FF2B5EF4-FFF2-40B4-BE49-F238E27FC236}">
                <a16:creationId xmlns:a16="http://schemas.microsoft.com/office/drawing/2014/main" id="{0CDB0944-3DB0-4476-B8C9-8FF465EE9C37}"/>
              </a:ext>
            </a:extLst>
          </p:cNvPr>
          <p:cNvSpPr>
            <a:spLocks xmlns:a="http://schemas.openxmlformats.org/drawingml/2006/main" noGrp="1"/>
          </p:cNvSpPr>
          <p:nvPr/>
        </p:nvSpPr>
        <p:spPr>
          <a:xfrm xmlns:a="http://schemas.openxmlformats.org/drawingml/2006/main">
            <a:off x="6762750" y="52768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waiting in the driveway</a:t>
            </a:r>
          </a:p>
        </p:txBody>
      </p:sp>
      <p:sp>
        <p:nvSpPr>
          <p:cNvPr id="16" name="">
            <a:extLst xmlns:a="http://schemas.openxmlformats.org/drawingml/2006/main">
              <a:ext uri="{FF2B5EF4-FFF2-40B4-BE49-F238E27FC236}">
                <a16:creationId xmlns:a16="http://schemas.microsoft.com/office/drawing/2014/main" id="{059B4063-9756-456C-92C3-EE9D30686A53}"/>
              </a:ext>
            </a:extLst>
          </p:cNvPr>
          <p:cNvSpPr>
            <a:spLocks xmlns:a="http://schemas.openxmlformats.org/drawingml/2006/main" noGrp="1"/>
          </p:cNvSpPr>
          <p:nvPr/>
        </p:nvSpPr>
        <p:spPr>
          <a:xfrm xmlns:a="http://schemas.openxmlformats.org/drawingml/2006/main">
            <a:off x="5238750" y="5886450"/>
            <a:ext cx="5810250" cy="533400"/>
          </a:xfrm>
          <a:prstGeom xmlns:a="http://schemas.openxmlformats.org/drawingml/2006/main" prst="roundRect">
            <a:avLst>
              <a:gd name="adj" fmla="val 17857"/>
            </a:avLst>
          </a:prstGeom>
          <a:solidFill xmlns:a="http://schemas.openxmlformats.org/drawingml/2006/main">
            <a:srgbClr val="18181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00450C-BE4D-4BAD-8545-39A42F474EF1}"/>
              </a:ext>
            </a:extLst>
          </p:cNvPr>
          <p:cNvSpPr>
            <a:spLocks xmlns:a="http://schemas.openxmlformats.org/drawingml/2006/main" noGrp="1"/>
          </p:cNvSpPr>
          <p:nvPr/>
        </p:nvSpPr>
        <p:spPr>
          <a:xfrm xmlns:a="http://schemas.openxmlformats.org/drawingml/2006/main">
            <a:off x="5448300" y="6048375"/>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125" b="1" i="0">
                <a:solidFill>
                  <a:srgbClr val="FCF8F1"/>
                </a:solidFill>
                <a:latin typeface="Avenir Next"/>
                <a:ea typeface="Avenir Next"/>
                <a:cs typeface="Avenir Next"/>
              </a:defRPr>
            </a:pPr>
            <a:r>
              <a:rPr sz="1125" b="1" i="0">
                <a:solidFill>
                  <a:srgbClr val="FCF8F1"/>
                </a:solidFill>
                <a:latin typeface="Avenir Next"/>
                <a:ea typeface="Avenir Next"/>
                <a:cs typeface="Avenir Next"/>
              </a:rPr>
              <a:t>17 DAYS LATER: BLISTERS, NUMB TOES, NECK PAIN. STILL WORTH IT.</a:t>
            </a:r>
          </a:p>
        </p:txBody>
      </p:sp>
    </p:spTree>
    <p:extLst>
      <p:ext uri="{BB962C8B-B14F-4D97-AF65-F5344CB8AC3E}">
        <p14:creationId xmlns:p14="http://schemas.microsoft.com/office/powerpoint/2010/main" val="2245947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2026-09-03T15:47:35.3290000Z</dcterms:created>
  <dcterms:modified xsi:type="dcterms:W3CDTF">2026-09-03T15:47:35.3290000Z</dcterms:modified>
</coreProperties>
</file>